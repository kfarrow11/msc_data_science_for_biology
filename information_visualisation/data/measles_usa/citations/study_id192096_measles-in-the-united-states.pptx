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vml" ContentType="application/vnd.openxmlformats-officedocument.vmlDrawing"/>
  <Default Extension="xlsx" ContentType="application/vnd.openxmlformats-officedocument.spreadsheetml.sheet"/>
  <Default Extension="bin" ContentType="application/vnd.openxmlformats-officedocument.oleObject"/>
  <Default Extension="emf" ContentType="image/x-emf"/>
  <Default Extension="png" ContentType="image/png"/>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2.7-->
<p:presentation xmlns:r="http://schemas.openxmlformats.org/officeDocument/2006/relationships" xmlns:a="http://schemas.openxmlformats.org/drawingml/2006/main" xmlns:p="http://schemas.openxmlformats.org/presentationml/2006/main" saveSubsetFonts="1">
  <p:sldMasterIdLst>
    <p:sldMasterId id="2147483648" r:id="rId1"/>
  </p:sldMasterIdLst>
  <p:sldIdLst>
    <p:sldId id="258" r:id="rId2"/>
    <p:sldId id="260" r:id="rId3"/>
    <p:sldId id="262" r:id="rId4"/>
    <p:sldId id="264" r:id="rId5"/>
    <p:sldId id="266" r:id="rId6"/>
    <p:sldId id="268" r:id="rId7"/>
    <p:sldId id="270" r:id="rId8"/>
    <p:sldId id="272" r:id="rId9"/>
    <p:sldId id="274" r:id="rId10"/>
    <p:sldId id="276" r:id="rId11"/>
    <p:sldId id="278" r:id="rId12"/>
    <p:sldId id="280" r:id="rId13"/>
    <p:sldId id="282" r:id="rId14"/>
    <p:sldId id="284" r:id="rId15"/>
    <p:sldId id="286" r:id="rId16"/>
    <p:sldId id="288" r:id="rId17"/>
    <p:sldId id="290" r:id="rId18"/>
    <p:sldId id="292" r:id="rId19"/>
    <p:sldId id="294" r:id="rId20"/>
    <p:sldId id="296" r:id="rId21"/>
    <p:sldId id="298" r:id="rId22"/>
    <p:sldId id="300" r:id="rId23"/>
    <p:sldId id="302" r:id="rId24"/>
    <p:sldId id="304" r:id="rId25"/>
    <p:sldId id="306" r:id="rId26"/>
    <p:sldId id="308" r:id="rId27"/>
    <p:sldId id="310" r:id="rId28"/>
    <p:sldId id="312" r:id="rId29"/>
    <p:sldId id="314" r:id="rId30"/>
    <p:sldId id="316" r:id="rId31"/>
    <p:sldId id="318" r:id="rId32"/>
    <p:sldId id="320" r:id="rId33"/>
    <p:sldId id="322" r:id="rId34"/>
    <p:sldId id="324" r:id="rId35"/>
    <p:sldId id="326" r:id="rId36"/>
    <p:sldId id="328" r:id="rId37"/>
    <p:sldId id="330" r:id="rId38"/>
  </p:sldIdLst>
  <p:sldSz cx="12192120" cy="6858000"/>
  <p:notesSz cx="6858000" cy="9144000"/>
  <p:custDataLst>
    <p:tags r:id="rId3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a="http://schemas.openxmlformats.org/drawingml/2006/main"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fill>
          <a:solidFill>
            <a:schemeClr val="accent1">
              <a:tint val="40000"/>
            </a:schemeClr>
          </a:solidFill>
        </a:fill>
      </a:tcStyle>
    </a:band1H>
    <a:band1V>
      <a:tcStyle>
        <a:fill>
          <a:solidFill>
            <a:schemeClr val="accent1">
              <a:tint val="40000"/>
            </a:schemeClr>
          </a:solidFill>
        </a:fill>
      </a:tcStyle>
    </a:band1V>
    <a:lastCol>
      <a:tcTxStyle b="on">
        <a:fontRef idx="minor">
          <a:prstClr val="black"/>
        </a:fontRef>
        <a:schemeClr val="lt1"/>
      </a:tcTxStyle>
      <a:tcStyle>
        <a:fill>
          <a:solidFill>
            <a:schemeClr val="accent1"/>
          </a:solidFill>
        </a:fill>
      </a:tcStyle>
    </a:lastCol>
    <a:firstCol>
      <a:tcTxStyle b="on">
        <a:fontRef idx="minor">
          <a:prstClr val="black"/>
        </a:fontRef>
        <a:schemeClr val="lt1"/>
      </a:tcTxStyle>
      <a:tcStyle>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000"/>
    <p:restoredTop sz="0"/>
  </p:normalViewPr>
  <p:slideViewPr>
    <p:cSldViewPr>
      <p:cViewPr>
        <p:scale>
          <a:sx n="73" d="100"/>
          <a:sy n="73" d="100"/>
        </p:scale>
        <p:origin x="0" y="0"/>
      </p:cViewPr>
    </p:cSldViewPr>
  </p:slideViewPr>
  <p:notesViewPr>
    <p:cSldViewPr>
      <p:cViewPr>
        <p:scale>
          <a:sx n="1" d="100"/>
          <a:sy n="1" d="100"/>
        </p:scale>
        <p:origin x="0" y="0"/>
      </p:cViewPr>
    </p:cSldViewPr>
  </p:notesViewPr>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 Type="http://schemas.openxmlformats.org/officeDocument/2006/relationships/slide" Target="slides/slide1.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 Type="http://schemas.openxmlformats.org/officeDocument/2006/relationships/slide" Target="slides/slide2.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tags" Target="tags/tag1.xml" /><Relationship Id="rId4" Type="http://schemas.openxmlformats.org/officeDocument/2006/relationships/slide" Target="slides/slide3.xml" /><Relationship Id="rId40" Type="http://schemas.openxmlformats.org/officeDocument/2006/relationships/presProps" Target="presProps.xml" /><Relationship Id="rId41" Type="http://schemas.openxmlformats.org/officeDocument/2006/relationships/viewProps" Target="viewProps.xml" /><Relationship Id="rId42" Type="http://schemas.openxmlformats.org/officeDocument/2006/relationships/theme" Target="theme/theme1.xml" /><Relationship Id="rId43" Type="http://schemas.openxmlformats.org/officeDocument/2006/relationships/tableStyles" Target="tableStyles.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s>
</file>

<file path=ppt/charts/_rels/chart1.xml.rels>&#65279;<?xml version="1.0" encoding="utf-8" standalone="yes"?><Relationships xmlns="http://schemas.openxmlformats.org/package/2006/relationships"><Relationship Id="rId1" Type="http://schemas.openxmlformats.org/officeDocument/2006/relationships/package" Target="../embeddings/Microsoft_Excel_Worksheet1.xlsx" /></Relationships>
</file>

<file path=ppt/charts/_rels/chart2.xml.rels>&#65279;<?xml version="1.0" encoding="utf-8" standalone="yes"?><Relationships xmlns="http://schemas.openxmlformats.org/package/2006/relationships"><Relationship Id="rId1" Type="http://schemas.openxmlformats.org/officeDocument/2006/relationships/package" Target="../embeddings/Microsoft_Excel_Worksheet2.xlsx" /></Relationships>
</file>

<file path=ppt/charts/_rels/chart3.xml.rels>&#65279;<?xml version="1.0" encoding="utf-8" standalone="yes"?><Relationships xmlns="http://schemas.openxmlformats.org/package/2006/relationships"><Relationship Id="rId1" Type="http://schemas.openxmlformats.org/officeDocument/2006/relationships/package" Target="../embeddings/Microsoft_Excel_Worksheet3.xlsx" /></Relationships>
</file>

<file path=ppt/charts/_rels/chart4.xml.rels>&#65279;<?xml version="1.0" encoding="utf-8" standalone="yes"?><Relationships xmlns="http://schemas.openxmlformats.org/package/2006/relationships"><Relationship Id="rId1" Type="http://schemas.openxmlformats.org/officeDocument/2006/relationships/package" Target="../embeddings/Microsoft_Excel_Worksheet4.xlsx" /></Relationships>
</file>

<file path=ppt/charts/_rels/chart5.xml.rels>&#65279;<?xml version="1.0" encoding="utf-8" standalone="yes"?><Relationships xmlns="http://schemas.openxmlformats.org/package/2006/relationships"><Relationship Id="rId1" Type="http://schemas.openxmlformats.org/officeDocument/2006/relationships/package" Target="../embeddings/Microsoft_Excel_Worksheet5.xlsx" /></Relationships>
</file>

<file path=ppt/charts/_rels/chart6.xml.rels>&#65279;<?xml version="1.0" encoding="utf-8" standalone="yes"?><Relationships xmlns="http://schemas.openxmlformats.org/package/2006/relationships"><Relationship Id="rId1" Type="http://schemas.openxmlformats.org/officeDocument/2006/relationships/package" Target="../embeddings/Microsoft_Excel_Worksheet6.xlsx" /></Relationships>
</file>

<file path=ppt/charts/_rels/chart7.xml.rels>&#65279;<?xml version="1.0" encoding="utf-8" standalone="yes"?><Relationships xmlns="http://schemas.openxmlformats.org/package/2006/relationships"><Relationship Id="rId1" Type="http://schemas.openxmlformats.org/officeDocument/2006/relationships/package" Target="../embeddings/Microsoft_Excel_Worksheet7.xlsx" /></Relationships>
</file>

<file path=ppt/charts/_rels/chart8.xml.rels>&#65279;<?xml version="1.0" encoding="utf-8" standalone="yes"?><Relationships xmlns="http://schemas.openxmlformats.org/package/2006/relationships"><Relationship Id="rId1" Type="http://schemas.openxmlformats.org/officeDocument/2006/relationships/package" Target="../embeddings/Microsoft_Excel_Worksheet8.xlsx" /></Relationships>
</file>

<file path=ppt/charts/_rels/chart9.xml.rels>&#65279;<?xml version="1.0" encoding="utf-8" standalone="yes"?><Relationships xmlns="http://schemas.openxmlformats.org/package/2006/relationships"><Relationship Id="rId1" Type="http://schemas.openxmlformats.org/officeDocument/2006/relationships/package" Target="../embeddings/Microsoft_Excel_Worksheet9.xlsx" /></Relationships>
</file>

<file path=ppt/charts/_rels/chart10.xml.rels>&#65279;<?xml version="1.0" encoding="utf-8" standalone="yes"?><Relationships xmlns="http://schemas.openxmlformats.org/package/2006/relationships"><Relationship Id="rId1" Type="http://schemas.openxmlformats.org/officeDocument/2006/relationships/package" Target="../embeddings/Microsoft_Excel_Worksheet11.xlsx" /></Relationships>
</file>

<file path=ppt/charts/_rels/chart11.xml.rels>&#65279;<?xml version="1.0" encoding="utf-8" standalone="yes"?><Relationships xmlns="http://schemas.openxmlformats.org/package/2006/relationships"><Relationship Id="rId1" Type="http://schemas.openxmlformats.org/officeDocument/2006/relationships/package" Target="../embeddings/Microsoft_Excel_Worksheet12.xlsx" /></Relationships>
</file>

<file path=ppt/charts/_rels/chart12.xml.rels>&#65279;<?xml version="1.0" encoding="utf-8" standalone="yes"?><Relationships xmlns="http://schemas.openxmlformats.org/package/2006/relationships"><Relationship Id="rId1" Type="http://schemas.openxmlformats.org/officeDocument/2006/relationships/package" Target="../embeddings/Microsoft_Excel_Worksheet13.xlsx" /></Relationships>
</file>

<file path=ppt/charts/_rels/chart13.xml.rels>&#65279;<?xml version="1.0" encoding="utf-8" standalone="yes"?><Relationships xmlns="http://schemas.openxmlformats.org/package/2006/relationships"><Relationship Id="rId1" Type="http://schemas.openxmlformats.org/officeDocument/2006/relationships/package" Target="../embeddings/Microsoft_Excel_Worksheet14.xlsx" /></Relationships>
</file>

<file path=ppt/charts/_rels/chart14.xml.rels>&#65279;<?xml version="1.0" encoding="utf-8" standalone="yes"?><Relationships xmlns="http://schemas.openxmlformats.org/package/2006/relationships"><Relationship Id="rId1" Type="http://schemas.openxmlformats.org/officeDocument/2006/relationships/package" Target="../embeddings/Microsoft_Excel_Worksheet15.xlsx" /></Relationships>
</file>

<file path=ppt/charts/_rels/chart15.xml.rels>&#65279;<?xml version="1.0" encoding="utf-8" standalone="yes"?><Relationships xmlns="http://schemas.openxmlformats.org/package/2006/relationships"><Relationship Id="rId1" Type="http://schemas.openxmlformats.org/officeDocument/2006/relationships/package" Target="../embeddings/Microsoft_Excel_Worksheet16.xlsx" /></Relationships>
</file>

<file path=ppt/charts/_rels/chart16.xml.rels>&#65279;<?xml version="1.0" encoding="utf-8" standalone="yes"?><Relationships xmlns="http://schemas.openxmlformats.org/package/2006/relationships"><Relationship Id="rId1" Type="http://schemas.openxmlformats.org/officeDocument/2006/relationships/package" Target="../embeddings/Microsoft_Excel_Worksheet17.xlsx" /></Relationships>
</file>

<file path=ppt/charts/_rels/chart17.xml.rels>&#65279;<?xml version="1.0" encoding="utf-8" standalone="yes"?><Relationships xmlns="http://schemas.openxmlformats.org/package/2006/relationships"><Relationship Id="rId1" Type="http://schemas.openxmlformats.org/officeDocument/2006/relationships/package" Target="../embeddings/Microsoft_Excel_Worksheet19.xlsx" /></Relationships>
</file>

<file path=ppt/charts/_rels/chart18.xml.rels>&#65279;<?xml version="1.0" encoding="utf-8" standalone="yes"?><Relationships xmlns="http://schemas.openxmlformats.org/package/2006/relationships"><Relationship Id="rId1" Type="http://schemas.openxmlformats.org/officeDocument/2006/relationships/package" Target="../embeddings/Microsoft_Excel_Worksheet21.xlsx" /></Relationships>
</file>

<file path=ppt/charts/_rels/chart19.xml.rels>&#65279;<?xml version="1.0" encoding="utf-8" standalone="yes"?><Relationships xmlns="http://schemas.openxmlformats.org/package/2006/relationships"><Relationship Id="rId1" Type="http://schemas.openxmlformats.org/officeDocument/2006/relationships/package" Target="../embeddings/Microsoft_Excel_Worksheet22.xlsx" /></Relationships>
</file>

<file path=ppt/charts/_rels/chart20.xml.rels>&#65279;<?xml version="1.0" encoding="utf-8" standalone="yes"?><Relationships xmlns="http://schemas.openxmlformats.org/package/2006/relationships"><Relationship Id="rId1" Type="http://schemas.openxmlformats.org/officeDocument/2006/relationships/package" Target="../embeddings/Microsoft_Excel_Worksheet23.xlsx" /></Relationships>
</file>

<file path=ppt/charts/_rels/chart21.xml.rels>&#65279;<?xml version="1.0" encoding="utf-8" standalone="yes"?><Relationships xmlns="http://schemas.openxmlformats.org/package/2006/relationships"><Relationship Id="rId1" Type="http://schemas.openxmlformats.org/officeDocument/2006/relationships/package" Target="../embeddings/Microsoft_Excel_Worksheet24.xlsx" /></Relationships>
</file>

<file path=ppt/charts/_rels/chart22.xml.rels>&#65279;<?xml version="1.0" encoding="utf-8" standalone="yes"?><Relationships xmlns="http://schemas.openxmlformats.org/package/2006/relationships"><Relationship Id="rId1" Type="http://schemas.openxmlformats.org/officeDocument/2006/relationships/package" Target="../embeddings/Microsoft_Excel_Worksheet25.xlsx" /></Relationships>
</file>

<file path=ppt/charts/_rels/chart23.xml.rels>&#65279;<?xml version="1.0" encoding="utf-8" standalone="yes"?><Relationships xmlns="http://schemas.openxmlformats.org/package/2006/relationships"><Relationship Id="rId1" Type="http://schemas.openxmlformats.org/officeDocument/2006/relationships/package" Target="../embeddings/Microsoft_Excel_Worksheet26.xlsx" /></Relationships>
</file>

<file path=ppt/charts/_rels/chart24.xml.rels>&#65279;<?xml version="1.0" encoding="utf-8" standalone="yes"?><Relationships xmlns="http://schemas.openxmlformats.org/package/2006/relationships"><Relationship Id="rId1" Type="http://schemas.openxmlformats.org/officeDocument/2006/relationships/package" Target="../embeddings/Microsoft_Excel_Worksheet27.xlsx" /></Relationships>
</file>

<file path=ppt/charts/_rels/chart25.xml.rels>&#65279;<?xml version="1.0" encoding="utf-8" standalone="yes"?><Relationships xmlns="http://schemas.openxmlformats.org/package/2006/relationships"><Relationship Id="rId1" Type="http://schemas.openxmlformats.org/officeDocument/2006/relationships/package" Target="../embeddings/Microsoft_Excel_Worksheet28.xlsx" /></Relationships>
</file>

<file path=ppt/charts/_rels/chart26.xml.rels>&#65279;<?xml version="1.0" encoding="utf-8" standalone="yes"?><Relationships xmlns="http://schemas.openxmlformats.org/package/2006/relationships"><Relationship Id="rId1" Type="http://schemas.openxmlformats.org/officeDocument/2006/relationships/package" Target="../embeddings/Microsoft_Excel_Worksheet29.xlsx" /></Relationships>
</file>

<file path=ppt/charts/_rels/chart27.xml.rels>&#65279;<?xml version="1.0" encoding="utf-8" standalone="yes"?><Relationships xmlns="http://schemas.openxmlformats.org/package/2006/relationships"><Relationship Id="rId1" Type="http://schemas.openxmlformats.org/officeDocument/2006/relationships/package" Target="../embeddings/Microsoft_Excel_Worksheet30.xlsx" /></Relationships>
</file>

<file path=ppt/charts/_rels/chart28.xml.rels>&#65279;<?xml version="1.0" encoding="utf-8" standalone="yes"?><Relationships xmlns="http://schemas.openxmlformats.org/package/2006/relationships"><Relationship Id="rId1" Type="http://schemas.openxmlformats.org/officeDocument/2006/relationships/package" Target="../embeddings/Microsoft_Excel_Worksheet31.xlsx" /></Relationships>
</file>

<file path=ppt/charts/chart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2000</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Sheet1!$A$2:$A$7</c:f>
              <c:strCache>
                <c:ptCount val="6"/>
                <c:pt idx="0">
                  <c:v>Africa</c:v>
                </c:pt>
                <c:pt idx="1">
                  <c:v>Americas</c:v>
                </c:pt>
                <c:pt idx="2">
                  <c:v>Eastern Mediterranean</c:v>
                </c:pt>
                <c:pt idx="3">
                  <c:v>Europe</c:v>
                </c:pt>
                <c:pt idx="4">
                  <c:v>South-East Asia</c:v>
                </c:pt>
                <c:pt idx="5">
                  <c:v>Western Pacific</c:v>
                </c:pt>
              </c:strCache>
            </c:strRef>
          </c:cat>
          <c:val>
            <c:numRef>
              <c:f>Sheet1!$B$2:$B$7</c:f>
              <c:numCache>
                <c:ptCount val="6"/>
                <c:pt idx="0">
                  <c:v>11475194</c:v>
                </c:pt>
                <c:pt idx="1">
                  <c:v>8770</c:v>
                </c:pt>
                <c:pt idx="2">
                  <c:v>4440048</c:v>
                </c:pt>
                <c:pt idx="3">
                  <c:v>768811</c:v>
                </c:pt>
                <c:pt idx="4">
                  <c:v>14609126</c:v>
                </c:pt>
                <c:pt idx="5">
                  <c:v>5638007</c:v>
                </c:pt>
              </c:numCache>
            </c:numRef>
          </c:val>
        </c:ser>
        <c:ser>
          <c:idx val="1"/>
          <c:order val="1"/>
          <c:tx>
            <c:strRef>
              <c:f>Sheet1!$C$1</c:f>
              <c:strCache>
                <c:ptCount val="1"/>
                <c:pt idx="0">
                  <c:v>2023</c:v>
                </c:pt>
              </c:strCache>
            </c:strRef>
          </c:tx>
          <c:spPr>
            <a:solidFill>
              <a:srgbClr val="0F283E"/>
            </a:solidFill>
            <a:ln>
              <a:solidFill>
                <a:srgbClr val="0F283E"/>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Sheet1!$A$2:$A$7</c:f>
              <c:strCache>
                <c:ptCount val="6"/>
                <c:pt idx="0">
                  <c:v>Africa</c:v>
                </c:pt>
                <c:pt idx="1">
                  <c:v>Americas</c:v>
                </c:pt>
                <c:pt idx="2">
                  <c:v>Eastern Mediterranean</c:v>
                </c:pt>
                <c:pt idx="3">
                  <c:v>Europe</c:v>
                </c:pt>
                <c:pt idx="4">
                  <c:v>South-East Asia</c:v>
                </c:pt>
                <c:pt idx="5">
                  <c:v>Western Pacific</c:v>
                </c:pt>
              </c:strCache>
            </c:strRef>
          </c:cat>
          <c:val>
            <c:numRef>
              <c:f>Sheet1!$C$2:$C$7</c:f>
              <c:numCache>
                <c:ptCount val="6"/>
                <c:pt idx="0">
                  <c:v>4801946</c:v>
                </c:pt>
                <c:pt idx="1">
                  <c:v>375</c:v>
                </c:pt>
                <c:pt idx="2">
                  <c:v>1382323</c:v>
                </c:pt>
                <c:pt idx="3">
                  <c:v>306375</c:v>
                </c:pt>
                <c:pt idx="4">
                  <c:v>2905680</c:v>
                </c:pt>
                <c:pt idx="5">
                  <c:v>944360</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Estimated number of cases </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2000</c:v>
                </c:pt>
              </c:strCache>
            </c:strRef>
          </c:tx>
          <c:spPr>
            <a:solidFill>
              <a:srgbClr val="2875DD"/>
            </a:solidFill>
            <a:ln>
              <a:solidFill>
                <a:srgbClr val="2875DD"/>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Sheet1!$A$2:$A$8</c:f>
              <c:strCache>
                <c:ptCount val="7"/>
                <c:pt idx="0">
                  <c:v>Africa</c:v>
                </c:pt>
                <c:pt idx="1">
                  <c:v>Americas</c:v>
                </c:pt>
                <c:pt idx="2">
                  <c:v>Eastern Mediterranean</c:v>
                </c:pt>
                <c:pt idx="3">
                  <c:v>Europe</c:v>
                </c:pt>
                <c:pt idx="4">
                  <c:v>South-East Asia</c:v>
                </c:pt>
                <c:pt idx="5">
                  <c:v>Western Pacific</c:v>
                </c:pt>
                <c:pt idx="6">
                  <c:v>Total</c:v>
                </c:pt>
              </c:strCache>
            </c:strRef>
          </c:cat>
          <c:val>
            <c:numRef>
              <c:f>Sheet1!$B$2:$B$8</c:f>
              <c:numCache>
                <c:ptCount val="7"/>
                <c:pt idx="0">
                  <c:v>821.3</c:v>
                </c:pt>
                <c:pt idx="1">
                  <c:v>2.1</c:v>
                </c:pt>
                <c:pt idx="2">
                  <c:v>85.8</c:v>
                </c:pt>
                <c:pt idx="3">
                  <c:v>49.8</c:v>
                </c:pt>
                <c:pt idx="4">
                  <c:v>50.3</c:v>
                </c:pt>
                <c:pt idx="5">
                  <c:v>105.6</c:v>
                </c:pt>
                <c:pt idx="6">
                  <c:v>144.6</c:v>
                </c:pt>
              </c:numCache>
            </c:numRef>
          </c:val>
        </c:ser>
        <c:ser>
          <c:idx val="1"/>
          <c:order val="1"/>
          <c:tx>
            <c:strRef>
              <c:f>Sheet1!$C$1</c:f>
              <c:strCache>
                <c:ptCount val="1"/>
                <c:pt idx="0">
                  <c:v>2023</c:v>
                </c:pt>
              </c:strCache>
            </c:strRef>
          </c:tx>
          <c:spPr>
            <a:solidFill>
              <a:srgbClr val="0F283E"/>
            </a:solidFill>
            <a:ln>
              <a:solidFill>
                <a:srgbClr val="0F283E"/>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Sheet1!$A$2:$A$8</c:f>
              <c:strCache>
                <c:ptCount val="7"/>
                <c:pt idx="0">
                  <c:v>Africa</c:v>
                </c:pt>
                <c:pt idx="1">
                  <c:v>Americas</c:v>
                </c:pt>
                <c:pt idx="2">
                  <c:v>Eastern Mediterranean</c:v>
                </c:pt>
                <c:pt idx="3">
                  <c:v>Europe</c:v>
                </c:pt>
                <c:pt idx="4">
                  <c:v>South-East Asia</c:v>
                </c:pt>
                <c:pt idx="5">
                  <c:v>Western Pacific</c:v>
                </c:pt>
                <c:pt idx="6">
                  <c:v>Total</c:v>
                </c:pt>
              </c:strCache>
            </c:strRef>
          </c:cat>
          <c:val>
            <c:numRef>
              <c:f>Sheet1!$C$2:$C$8</c:f>
              <c:numCache>
                <c:ptCount val="7"/>
                <c:pt idx="0">
                  <c:v>342.9</c:v>
                </c:pt>
                <c:pt idx="1">
                  <c:v>0</c:v>
                </c:pt>
                <c:pt idx="2">
                  <c:v>122.8</c:v>
                </c:pt>
                <c:pt idx="3">
                  <c:v>74.7</c:v>
                </c:pt>
                <c:pt idx="4">
                  <c:v>40.7</c:v>
                </c:pt>
                <c:pt idx="5">
                  <c:v>3.1</c:v>
                </c:pt>
                <c:pt idx="6">
                  <c:v>91</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cases per one million population</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3.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2000</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Sheet1!$A$2:$A$7</c:f>
              <c:strCache>
                <c:ptCount val="6"/>
                <c:pt idx="0">
                  <c:v>Africa</c:v>
                </c:pt>
                <c:pt idx="1">
                  <c:v>Americas</c:v>
                </c:pt>
                <c:pt idx="2">
                  <c:v>Eastern Mediterranean</c:v>
                </c:pt>
                <c:pt idx="3">
                  <c:v>Europe</c:v>
                </c:pt>
                <c:pt idx="4">
                  <c:v>South-East Asia</c:v>
                </c:pt>
                <c:pt idx="5">
                  <c:v>Western Pacific</c:v>
                </c:pt>
              </c:strCache>
            </c:strRef>
          </c:cat>
          <c:val>
            <c:numRef>
              <c:f>Sheet1!$B$2:$B$7</c:f>
              <c:numCache>
                <c:ptCount val="6"/>
                <c:pt idx="0">
                  <c:v>361694</c:v>
                </c:pt>
                <c:pt idx="1">
                  <c:v>3</c:v>
                </c:pt>
                <c:pt idx="2">
                  <c:v>141059</c:v>
                </c:pt>
                <c:pt idx="3">
                  <c:v>3397</c:v>
                </c:pt>
                <c:pt idx="4">
                  <c:v>265859</c:v>
                </c:pt>
                <c:pt idx="5">
                  <c:v>28049</c:v>
                </c:pt>
              </c:numCache>
            </c:numRef>
          </c:val>
        </c:ser>
        <c:ser>
          <c:idx val="1"/>
          <c:order val="1"/>
          <c:tx>
            <c:strRef>
              <c:f>Sheet1!$C$1</c:f>
              <c:strCache>
                <c:ptCount val="1"/>
                <c:pt idx="0">
                  <c:v>2023</c:v>
                </c:pt>
              </c:strCache>
            </c:strRef>
          </c:tx>
          <c:spPr>
            <a:solidFill>
              <a:srgbClr val="0F283E"/>
            </a:solidFill>
            <a:ln>
              <a:solidFill>
                <a:srgbClr val="0F283E"/>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Sheet1!$A$2:$A$7</c:f>
              <c:strCache>
                <c:ptCount val="6"/>
                <c:pt idx="0">
                  <c:v>Africa</c:v>
                </c:pt>
                <c:pt idx="1">
                  <c:v>Americas</c:v>
                </c:pt>
                <c:pt idx="2">
                  <c:v>Eastern Mediterranean</c:v>
                </c:pt>
                <c:pt idx="3">
                  <c:v>Europe</c:v>
                </c:pt>
                <c:pt idx="4">
                  <c:v>South-East Asia</c:v>
                </c:pt>
                <c:pt idx="5">
                  <c:v>Western Pacific</c:v>
                </c:pt>
              </c:strCache>
            </c:strRef>
          </c:cat>
          <c:val>
            <c:numRef>
              <c:f>Sheet1!$C$2:$C$7</c:f>
              <c:numCache>
                <c:ptCount val="6"/>
                <c:pt idx="0">
                  <c:v>75942</c:v>
                </c:pt>
                <c:pt idx="1">
                  <c:v>1</c:v>
                </c:pt>
                <c:pt idx="2">
                  <c:v>15280</c:v>
                </c:pt>
                <c:pt idx="3">
                  <c:v>222</c:v>
                </c:pt>
                <c:pt idx="4">
                  <c:v>14691</c:v>
                </c:pt>
                <c:pt idx="5">
                  <c:v>1347</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Estimated number of deaths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4.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Pt>
            <c:idx val="6"/>
            <c:invertIfNegative val="0"/>
            <c:spPr>
              <a:solidFill>
                <a:srgbClr val="C0C0C0"/>
              </a:solidFill>
            </c:spPr>
          </c:dPt>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Sheet1!$A$2:$A$8</c:f>
              <c:strCache>
                <c:ptCount val="7"/>
                <c:pt idx="0">
                  <c:v>Africa</c:v>
                </c:pt>
                <c:pt idx="1">
                  <c:v>Americas</c:v>
                </c:pt>
                <c:pt idx="2">
                  <c:v>Eastern Mediterranean</c:v>
                </c:pt>
                <c:pt idx="3">
                  <c:v>Europe</c:v>
                </c:pt>
                <c:pt idx="4">
                  <c:v>South-East Asia</c:v>
                </c:pt>
                <c:pt idx="5">
                  <c:v>Western Pacific</c:v>
                </c:pt>
                <c:pt idx="6">
                  <c:v>Total</c:v>
                </c:pt>
              </c:strCache>
            </c:strRef>
          </c:cat>
          <c:val>
            <c:numRef>
              <c:f>Sheet1!$B$2:$B$8</c:f>
              <c:numCache>
                <c:ptCount val="7"/>
                <c:pt idx="0">
                  <c:v>-0.79</c:v>
                </c:pt>
                <c:pt idx="1">
                  <c:v>-0.96</c:v>
                </c:pt>
                <c:pt idx="2">
                  <c:v>-0.89</c:v>
                </c:pt>
                <c:pt idx="3">
                  <c:v>-0.93</c:v>
                </c:pt>
                <c:pt idx="4">
                  <c:v>-0.94</c:v>
                </c:pt>
                <c:pt idx="5">
                  <c:v>-0.95</c:v>
                </c:pt>
                <c:pt idx="6">
                  <c:v>-0.87</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ax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Percentage change in measles mortality </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5.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stacked"/>
        <c:varyColors val="0"/>
        <c:ser>
          <c:idx val="0"/>
          <c:order val="0"/>
          <c:tx>
            <c:strRef>
              <c:f>Sheet1!$B$1</c:f>
              <c:strCache>
                <c:ptCount val="1"/>
                <c:pt idx="0">
                  <c:v>Very concerned</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4"/>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5"/>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strRef>
              <c:f>Sheet1!$A$2:$A$7</c:f>
              <c:strCache>
                <c:ptCount val="6"/>
                <c:pt idx="0">
                  <c:v>Ebola</c:v>
                </c:pt>
                <c:pt idx="1">
                  <c:v>Zika</c:v>
                </c:pt>
                <c:pt idx="2">
                  <c:v>SARS</c:v>
                </c:pt>
                <c:pt idx="3">
                  <c:v>Influenza</c:v>
                </c:pt>
                <c:pt idx="4">
                  <c:v>Measles</c:v>
                </c:pt>
                <c:pt idx="5">
                  <c:v>Chicken pox</c:v>
                </c:pt>
              </c:strCache>
            </c:strRef>
          </c:cat>
          <c:val>
            <c:numRef>
              <c:f>Sheet1!$B$2:$B$7</c:f>
              <c:numCache>
                <c:ptCount val="6"/>
                <c:pt idx="0">
                  <c:v>0.13</c:v>
                </c:pt>
                <c:pt idx="1">
                  <c:v>0.09</c:v>
                </c:pt>
                <c:pt idx="2">
                  <c:v>0.12</c:v>
                </c:pt>
                <c:pt idx="3">
                  <c:v>0.18</c:v>
                </c:pt>
                <c:pt idx="4">
                  <c:v>0.1</c:v>
                </c:pt>
                <c:pt idx="5">
                  <c:v>0.1</c:v>
                </c:pt>
              </c:numCache>
            </c:numRef>
          </c:val>
        </c:ser>
        <c:ser>
          <c:idx val="1"/>
          <c:order val="1"/>
          <c:tx>
            <c:strRef>
              <c:f>Sheet1!$C$1</c:f>
              <c:strCache>
                <c:ptCount val="1"/>
                <c:pt idx="0">
                  <c:v>Somewhat concerned</c:v>
                </c:pt>
              </c:strCache>
            </c:strRef>
          </c:tx>
          <c:spPr>
            <a:solidFill>
              <a:srgbClr val="0F283E"/>
            </a:solidFill>
            <a:ln>
              <a:solidFill>
                <a:srgbClr val="0F283E"/>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4"/>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5"/>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strRef>
              <c:f>Sheet1!$A$2:$A$7</c:f>
              <c:strCache>
                <c:ptCount val="6"/>
                <c:pt idx="0">
                  <c:v>Ebola</c:v>
                </c:pt>
                <c:pt idx="1">
                  <c:v>Zika</c:v>
                </c:pt>
                <c:pt idx="2">
                  <c:v>SARS</c:v>
                </c:pt>
                <c:pt idx="3">
                  <c:v>Influenza</c:v>
                </c:pt>
                <c:pt idx="4">
                  <c:v>Measles</c:v>
                </c:pt>
                <c:pt idx="5">
                  <c:v>Chicken pox</c:v>
                </c:pt>
              </c:strCache>
            </c:strRef>
          </c:cat>
          <c:val>
            <c:numRef>
              <c:f>Sheet1!$C$2:$C$7</c:f>
              <c:numCache>
                <c:ptCount val="6"/>
                <c:pt idx="0">
                  <c:v>0.18</c:v>
                </c:pt>
                <c:pt idx="1">
                  <c:v>0.13</c:v>
                </c:pt>
                <c:pt idx="2">
                  <c:v>0.18</c:v>
                </c:pt>
                <c:pt idx="3">
                  <c:v>0.33</c:v>
                </c:pt>
                <c:pt idx="4">
                  <c:v>0.15</c:v>
                </c:pt>
                <c:pt idx="5">
                  <c:v>0.14</c:v>
                </c:pt>
              </c:numCache>
            </c:numRef>
          </c:val>
        </c:ser>
        <c:dLbls>
          <c:showLegendKey val="0"/>
          <c:showVal val="0"/>
          <c:showCatName val="0"/>
          <c:showSerName val="0"/>
          <c:showPercent val="0"/>
          <c:showBubbleSize val="0"/>
          <c:showLeaderLines val="0"/>
        </c:dLbls>
        <c:gapWidth val="80"/>
        <c:overlap val="10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Percentage of respondents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6.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2022</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Sheet1!$A$2:$A$6</c:f>
              <c:strCache>
                <c:ptCount val="5"/>
                <c:pt idx="0">
                  <c:v>Very concerned</c:v>
                </c:pt>
                <c:pt idx="1">
                  <c:v>Somewhat concerned</c:v>
                </c:pt>
                <c:pt idx="2">
                  <c:v>Not very concerned</c:v>
                </c:pt>
                <c:pt idx="3">
                  <c:v>Not at all concerned</c:v>
                </c:pt>
                <c:pt idx="4">
                  <c:v>Don't know/no opinion</c:v>
                </c:pt>
              </c:strCache>
            </c:strRef>
          </c:cat>
          <c:val>
            <c:numRef>
              <c:f>Sheet1!$B$2:$B$6</c:f>
              <c:numCache>
                <c:ptCount val="5"/>
                <c:pt idx="0">
                  <c:v>0.1</c:v>
                </c:pt>
                <c:pt idx="1">
                  <c:v>0.15</c:v>
                </c:pt>
                <c:pt idx="2">
                  <c:v>0.28</c:v>
                </c:pt>
                <c:pt idx="3">
                  <c:v>0.39</c:v>
                </c:pt>
                <c:pt idx="4">
                  <c:v>0.07</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Percentage of respondents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7.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18 to 34 years</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Sheet1!$A$2:$A$6</c:f>
              <c:strCache>
                <c:ptCount val="5"/>
                <c:pt idx="0">
                  <c:v>Very concerned</c:v>
                </c:pt>
                <c:pt idx="1">
                  <c:v>Somewhat concerned</c:v>
                </c:pt>
                <c:pt idx="2">
                  <c:v>Not very concerned</c:v>
                </c:pt>
                <c:pt idx="3">
                  <c:v>Not at all concerned</c:v>
                </c:pt>
                <c:pt idx="4">
                  <c:v>Don't know/no opinion</c:v>
                </c:pt>
              </c:strCache>
            </c:strRef>
          </c:cat>
          <c:val>
            <c:numRef>
              <c:f>Sheet1!$B$2:$B$6</c:f>
              <c:numCache>
                <c:ptCount val="5"/>
                <c:pt idx="0">
                  <c:v>0.13</c:v>
                </c:pt>
                <c:pt idx="1">
                  <c:v>0.17</c:v>
                </c:pt>
                <c:pt idx="2">
                  <c:v>0.25</c:v>
                </c:pt>
                <c:pt idx="3">
                  <c:v>0.33</c:v>
                </c:pt>
                <c:pt idx="4">
                  <c:v>0.12</c:v>
                </c:pt>
              </c:numCache>
            </c:numRef>
          </c:val>
        </c:ser>
        <c:ser>
          <c:idx val="1"/>
          <c:order val="1"/>
          <c:tx>
            <c:strRef>
              <c:f>Sheet1!$C$1</c:f>
              <c:strCache>
                <c:ptCount val="1"/>
                <c:pt idx="0">
                  <c:v>35 to 44 years</c:v>
                </c:pt>
              </c:strCache>
            </c:strRef>
          </c:tx>
          <c:spPr>
            <a:solidFill>
              <a:srgbClr val="0F283E"/>
            </a:solidFill>
            <a:ln>
              <a:solidFill>
                <a:srgbClr val="0F283E"/>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Sheet1!$A$2:$A$6</c:f>
              <c:strCache>
                <c:ptCount val="5"/>
                <c:pt idx="0">
                  <c:v>Very concerned</c:v>
                </c:pt>
                <c:pt idx="1">
                  <c:v>Somewhat concerned</c:v>
                </c:pt>
                <c:pt idx="2">
                  <c:v>Not very concerned</c:v>
                </c:pt>
                <c:pt idx="3">
                  <c:v>Not at all concerned</c:v>
                </c:pt>
                <c:pt idx="4">
                  <c:v>Don't know/no opinion</c:v>
                </c:pt>
              </c:strCache>
            </c:strRef>
          </c:cat>
          <c:val>
            <c:numRef>
              <c:f>Sheet1!$C$2:$C$6</c:f>
              <c:numCache>
                <c:ptCount val="5"/>
                <c:pt idx="0">
                  <c:v>0.12</c:v>
                </c:pt>
                <c:pt idx="1">
                  <c:v>0.18</c:v>
                </c:pt>
                <c:pt idx="2">
                  <c:v>0.24</c:v>
                </c:pt>
                <c:pt idx="3">
                  <c:v>0.39</c:v>
                </c:pt>
                <c:pt idx="4">
                  <c:v>0.08</c:v>
                </c:pt>
              </c:numCache>
            </c:numRef>
          </c:val>
        </c:ser>
        <c:ser>
          <c:idx val="2"/>
          <c:order val="2"/>
          <c:tx>
            <c:strRef>
              <c:f>Sheet1!$D$1</c:f>
              <c:strCache>
                <c:ptCount val="1"/>
                <c:pt idx="0">
                  <c:v>45 to 64 years</c:v>
                </c:pt>
              </c:strCache>
            </c:strRef>
          </c:tx>
          <c:spPr>
            <a:solidFill>
              <a:srgbClr val="BABABA"/>
            </a:solidFill>
            <a:ln>
              <a:solidFill>
                <a:srgbClr val="BABABA"/>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Sheet1!$A$2:$A$6</c:f>
              <c:strCache>
                <c:ptCount val="5"/>
                <c:pt idx="0">
                  <c:v>Very concerned</c:v>
                </c:pt>
                <c:pt idx="1">
                  <c:v>Somewhat concerned</c:v>
                </c:pt>
                <c:pt idx="2">
                  <c:v>Not very concerned</c:v>
                </c:pt>
                <c:pt idx="3">
                  <c:v>Not at all concerned</c:v>
                </c:pt>
                <c:pt idx="4">
                  <c:v>Don't know/no opinion</c:v>
                </c:pt>
              </c:strCache>
            </c:strRef>
          </c:cat>
          <c:val>
            <c:numRef>
              <c:f>Sheet1!$D$2:$D$6</c:f>
              <c:numCache>
                <c:ptCount val="5"/>
                <c:pt idx="0">
                  <c:v>0.09</c:v>
                </c:pt>
                <c:pt idx="1">
                  <c:v>0.15</c:v>
                </c:pt>
                <c:pt idx="2">
                  <c:v>0.29</c:v>
                </c:pt>
                <c:pt idx="3">
                  <c:v>0.41</c:v>
                </c:pt>
                <c:pt idx="4">
                  <c:v>0.05</c:v>
                </c:pt>
              </c:numCache>
            </c:numRef>
          </c:val>
        </c:ser>
        <c:ser>
          <c:idx val="3"/>
          <c:order val="3"/>
          <c:tx>
            <c:strRef>
              <c:f>Sheet1!$E$1</c:f>
              <c:strCache>
                <c:ptCount val="1"/>
                <c:pt idx="0">
                  <c:v>65 years and older</c:v>
                </c:pt>
              </c:strCache>
            </c:strRef>
          </c:tx>
          <c:spPr>
            <a:solidFill>
              <a:srgbClr val="A60B0B"/>
            </a:solidFill>
            <a:ln>
              <a:solidFill>
                <a:srgbClr val="A60B0B"/>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Sheet1!$A$2:$A$6</c:f>
              <c:strCache>
                <c:ptCount val="5"/>
                <c:pt idx="0">
                  <c:v>Very concerned</c:v>
                </c:pt>
                <c:pt idx="1">
                  <c:v>Somewhat concerned</c:v>
                </c:pt>
                <c:pt idx="2">
                  <c:v>Not very concerned</c:v>
                </c:pt>
                <c:pt idx="3">
                  <c:v>Not at all concerned</c:v>
                </c:pt>
                <c:pt idx="4">
                  <c:v>Don't know/no opinion</c:v>
                </c:pt>
              </c:strCache>
            </c:strRef>
          </c:cat>
          <c:val>
            <c:numRef>
              <c:f>Sheet1!$E$2:$E$6</c:f>
              <c:numCache>
                <c:ptCount val="5"/>
                <c:pt idx="0">
                  <c:v>0.07</c:v>
                </c:pt>
                <c:pt idx="1">
                  <c:v>0.13</c:v>
                </c:pt>
                <c:pt idx="2">
                  <c:v>0.32</c:v>
                </c:pt>
                <c:pt idx="3">
                  <c:v>0.45</c:v>
                </c:pt>
                <c:pt idx="4">
                  <c:v>0.04</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Percentage of respondents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8.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Column1</c:v>
                </c:pt>
              </c:strCache>
            </c:strRef>
          </c:tx>
          <c:spPr>
            <a:ln>
              <a:solidFill>
                <a:srgbClr val="2875DD"/>
              </a:solidFill>
            </a:ln>
          </c:spPr>
          <c:marker>
            <c:symbol val="circle"/>
            <c:spPr>
              <a:solidFill>
                <a:srgbClr val="2875DD"/>
              </a:solidFill>
              <a:ln>
                <a:solidFill>
                  <a:srgbClr val="2875DD"/>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Sheet1!$A$2:$A$92</c:f>
              <c:numCache>
                <c:formatCode>General</c:formatCode>
                <c:ptCount val="91"/>
                <c:pt idx="0">
                  <c:v>1919</c:v>
                </c:pt>
                <c:pt idx="1">
                  <c:v>1921</c:v>
                </c:pt>
                <c:pt idx="2">
                  <c:v>1924</c:v>
                </c:pt>
                <c:pt idx="3">
                  <c:v>1925</c:v>
                </c:pt>
                <c:pt idx="4">
                  <c:v>1938</c:v>
                </c:pt>
                <c:pt idx="5">
                  <c:v>1939</c:v>
                </c:pt>
                <c:pt idx="6">
                  <c:v>1940</c:v>
                </c:pt>
                <c:pt idx="7">
                  <c:v>1941</c:v>
                </c:pt>
                <c:pt idx="8">
                  <c:v>1942</c:v>
                </c:pt>
                <c:pt idx="9">
                  <c:v>1943</c:v>
                </c:pt>
                <c:pt idx="10">
                  <c:v>1944</c:v>
                </c:pt>
                <c:pt idx="11">
                  <c:v>1945</c:v>
                </c:pt>
                <c:pt idx="12">
                  <c:v>1946</c:v>
                </c:pt>
                <c:pt idx="13">
                  <c:v>1947</c:v>
                </c:pt>
                <c:pt idx="14">
                  <c:v>1948</c:v>
                </c:pt>
                <c:pt idx="15">
                  <c:v>1949</c:v>
                </c:pt>
                <c:pt idx="16">
                  <c:v>1950</c:v>
                </c:pt>
                <c:pt idx="17">
                  <c:v>1951</c:v>
                </c:pt>
                <c:pt idx="18">
                  <c:v>1952</c:v>
                </c:pt>
                <c:pt idx="19">
                  <c:v>1953</c:v>
                </c:pt>
                <c:pt idx="20">
                  <c:v>1954</c:v>
                </c:pt>
                <c:pt idx="21">
                  <c:v>1955</c:v>
                </c:pt>
                <c:pt idx="22">
                  <c:v>1956</c:v>
                </c:pt>
                <c:pt idx="23">
                  <c:v>1957</c:v>
                </c:pt>
                <c:pt idx="24">
                  <c:v>1958</c:v>
                </c:pt>
                <c:pt idx="25">
                  <c:v>1959</c:v>
                </c:pt>
                <c:pt idx="26">
                  <c:v>1960</c:v>
                </c:pt>
                <c:pt idx="27">
                  <c:v>1961</c:v>
                </c:pt>
                <c:pt idx="28">
                  <c:v>1962</c:v>
                </c:pt>
                <c:pt idx="29">
                  <c:v>1963</c:v>
                </c:pt>
                <c:pt idx="30">
                  <c:v>1964</c:v>
                </c:pt>
                <c:pt idx="31">
                  <c:v>1965</c:v>
                </c:pt>
                <c:pt idx="32">
                  <c:v>1966</c:v>
                </c:pt>
                <c:pt idx="33">
                  <c:v>1967</c:v>
                </c:pt>
                <c:pt idx="34">
                  <c:v>1968</c:v>
                </c:pt>
                <c:pt idx="35">
                  <c:v>1969</c:v>
                </c:pt>
                <c:pt idx="36">
                  <c:v>1970</c:v>
                </c:pt>
                <c:pt idx="37">
                  <c:v>1971</c:v>
                </c:pt>
                <c:pt idx="38">
                  <c:v>1972</c:v>
                </c:pt>
                <c:pt idx="39">
                  <c:v>1973</c:v>
                </c:pt>
                <c:pt idx="40">
                  <c:v>1974</c:v>
                </c:pt>
                <c:pt idx="41">
                  <c:v>1975</c:v>
                </c:pt>
                <c:pt idx="42">
                  <c:v>1976</c:v>
                </c:pt>
                <c:pt idx="43">
                  <c:v>1977</c:v>
                </c:pt>
                <c:pt idx="44">
                  <c:v>1978</c:v>
                </c:pt>
                <c:pt idx="45">
                  <c:v>1979</c:v>
                </c:pt>
                <c:pt idx="46">
                  <c:v>1980</c:v>
                </c:pt>
                <c:pt idx="47">
                  <c:v>1981</c:v>
                </c:pt>
                <c:pt idx="48">
                  <c:v>1982</c:v>
                </c:pt>
                <c:pt idx="49">
                  <c:v>1983</c:v>
                </c:pt>
                <c:pt idx="50">
                  <c:v>1984</c:v>
                </c:pt>
                <c:pt idx="51">
                  <c:v>1985</c:v>
                </c:pt>
                <c:pt idx="52">
                  <c:v>1986</c:v>
                </c:pt>
                <c:pt idx="53">
                  <c:v>1987</c:v>
                </c:pt>
                <c:pt idx="54">
                  <c:v>1988</c:v>
                </c:pt>
                <c:pt idx="55">
                  <c:v>1989</c:v>
                </c:pt>
                <c:pt idx="56">
                  <c:v>1990</c:v>
                </c:pt>
                <c:pt idx="57">
                  <c:v>1991</c:v>
                </c:pt>
                <c:pt idx="58">
                  <c:v>1992</c:v>
                </c:pt>
                <c:pt idx="59">
                  <c:v>1993</c:v>
                </c:pt>
                <c:pt idx="60">
                  <c:v>1994</c:v>
                </c:pt>
                <c:pt idx="61">
                  <c:v>1995</c:v>
                </c:pt>
                <c:pt idx="62">
                  <c:v>1996</c:v>
                </c:pt>
                <c:pt idx="63">
                  <c:v>1997</c:v>
                </c:pt>
                <c:pt idx="64">
                  <c:v>1998</c:v>
                </c:pt>
                <c:pt idx="65">
                  <c:v>1999</c:v>
                </c:pt>
                <c:pt idx="66">
                  <c:v>2000</c:v>
                </c:pt>
                <c:pt idx="67">
                  <c:v>2001</c:v>
                </c:pt>
                <c:pt idx="68">
                  <c:v>2002</c:v>
                </c:pt>
                <c:pt idx="69">
                  <c:v>2003</c:v>
                </c:pt>
                <c:pt idx="70">
                  <c:v>2004</c:v>
                </c:pt>
                <c:pt idx="71">
                  <c:v>2005</c:v>
                </c:pt>
                <c:pt idx="72">
                  <c:v>2006</c:v>
                </c:pt>
                <c:pt idx="73">
                  <c:v>2007</c:v>
                </c:pt>
                <c:pt idx="74">
                  <c:v>2008</c:v>
                </c:pt>
                <c:pt idx="75">
                  <c:v>2009</c:v>
                </c:pt>
                <c:pt idx="76">
                  <c:v>2010</c:v>
                </c:pt>
                <c:pt idx="77">
                  <c:v>2011</c:v>
                </c:pt>
                <c:pt idx="78">
                  <c:v>2012</c:v>
                </c:pt>
                <c:pt idx="79">
                  <c:v>2013</c:v>
                </c:pt>
                <c:pt idx="80">
                  <c:v>2014</c:v>
                </c:pt>
                <c:pt idx="81">
                  <c:v>2015</c:v>
                </c:pt>
                <c:pt idx="82">
                  <c:v>2016</c:v>
                </c:pt>
                <c:pt idx="83">
                  <c:v>2017</c:v>
                </c:pt>
                <c:pt idx="84">
                  <c:v>2018</c:v>
                </c:pt>
                <c:pt idx="85">
                  <c:v>2019</c:v>
                </c:pt>
                <c:pt idx="86">
                  <c:v>2020</c:v>
                </c:pt>
                <c:pt idx="87">
                  <c:v>2021</c:v>
                </c:pt>
                <c:pt idx="88">
                  <c:v>2022</c:v>
                </c:pt>
                <c:pt idx="89">
                  <c:v>2023</c:v>
                </c:pt>
                <c:pt idx="90">
                  <c:v>2024</c:v>
                </c:pt>
              </c:numCache>
            </c:numRef>
          </c:cat>
          <c:val>
            <c:numRef>
              <c:f>Sheet1!$B$2:$B$92</c:f>
              <c:numCache>
                <c:ptCount val="91"/>
                <c:pt idx="0">
                  <c:v>175.58</c:v>
                </c:pt>
                <c:pt idx="1">
                  <c:v>266.52</c:v>
                </c:pt>
                <c:pt idx="2">
                  <c:v>464.34</c:v>
                </c:pt>
                <c:pt idx="3">
                  <c:v>201.4</c:v>
                </c:pt>
                <c:pt idx="4">
                  <c:v>647.42</c:v>
                </c:pt>
                <c:pt idx="5">
                  <c:v>314.7</c:v>
                </c:pt>
                <c:pt idx="6">
                  <c:v>224.98</c:v>
                </c:pt>
                <c:pt idx="7">
                  <c:v>683.25</c:v>
                </c:pt>
                <c:pt idx="8">
                  <c:v>413.1</c:v>
                </c:pt>
                <c:pt idx="9">
                  <c:v>471.62</c:v>
                </c:pt>
                <c:pt idx="10">
                  <c:v>462.71</c:v>
                </c:pt>
                <c:pt idx="11">
                  <c:v>105.72</c:v>
                </c:pt>
                <c:pt idx="12">
                  <c:v>464.07</c:v>
                </c:pt>
                <c:pt idx="13">
                  <c:v>156.63</c:v>
                </c:pt>
                <c:pt idx="14">
                  <c:v>427.3</c:v>
                </c:pt>
                <c:pt idx="15">
                  <c:v>428.12</c:v>
                </c:pt>
                <c:pt idx="16">
                  <c:v>206.95</c:v>
                </c:pt>
                <c:pt idx="17">
                  <c:v>338.77</c:v>
                </c:pt>
                <c:pt idx="18">
                  <c:v>430.16</c:v>
                </c:pt>
                <c:pt idx="19">
                  <c:v>278.68</c:v>
                </c:pt>
                <c:pt idx="20">
                  <c:v>417.22</c:v>
                </c:pt>
                <c:pt idx="21">
                  <c:v>334.03</c:v>
                </c:pt>
                <c:pt idx="22">
                  <c:v>362.47</c:v>
                </c:pt>
                <c:pt idx="23">
                  <c:v>283.85</c:v>
                </c:pt>
                <c:pt idx="24">
                  <c:v>438.02</c:v>
                </c:pt>
                <c:pt idx="25">
                  <c:v>229.28</c:v>
                </c:pt>
                <c:pt idx="26">
                  <c:v>245.02</c:v>
                </c:pt>
                <c:pt idx="27">
                  <c:v>231.03</c:v>
                </c:pt>
                <c:pt idx="28">
                  <c:v>257.88</c:v>
                </c:pt>
                <c:pt idx="29">
                  <c:v>202.9</c:v>
                </c:pt>
                <c:pt idx="30">
                  <c:v>237.57</c:v>
                </c:pt>
                <c:pt idx="31">
                  <c:v>133.86</c:v>
                </c:pt>
                <c:pt idx="32">
                  <c:v>102.96</c:v>
                </c:pt>
                <c:pt idx="33">
                  <c:v>31.24</c:v>
                </c:pt>
                <c:pt idx="34">
                  <c:v>10.95</c:v>
                </c:pt>
                <c:pt idx="35">
                  <c:v>12.58</c:v>
                </c:pt>
                <c:pt idx="36">
                  <c:v>22.79</c:v>
                </c:pt>
                <c:pt idx="37">
                  <c:v>35.78</c:v>
                </c:pt>
                <c:pt idx="38">
                  <c:v>15.16</c:v>
                </c:pt>
                <c:pt idx="39">
                  <c:v>12.41</c:v>
                </c:pt>
                <c:pt idx="40">
                  <c:v>10.18</c:v>
                </c:pt>
                <c:pt idx="41">
                  <c:v>11.12</c:v>
                </c:pt>
                <c:pt idx="42">
                  <c:v>18.59</c:v>
                </c:pt>
                <c:pt idx="43">
                  <c:v>25.69</c:v>
                </c:pt>
                <c:pt idx="44">
                  <c:v>11.92</c:v>
                </c:pt>
                <c:pt idx="45">
                  <c:v>5.97</c:v>
                </c:pt>
                <c:pt idx="46">
                  <c:v>5.88</c:v>
                </c:pt>
                <c:pt idx="47">
                  <c:v>1.35</c:v>
                </c:pt>
                <c:pt idx="48">
                  <c:v>0.73</c:v>
                </c:pt>
                <c:pt idx="49">
                  <c:v>0.63</c:v>
                </c:pt>
                <c:pt idx="50">
                  <c:v>1.08</c:v>
                </c:pt>
                <c:pt idx="51">
                  <c:v>1.17</c:v>
                </c:pt>
                <c:pt idx="52">
                  <c:v>2.56</c:v>
                </c:pt>
                <c:pt idx="53">
                  <c:v>1.48</c:v>
                </c:pt>
                <c:pt idx="54">
                  <c:v>1.37</c:v>
                </c:pt>
                <c:pt idx="55">
                  <c:v>7.15</c:v>
                </c:pt>
                <c:pt idx="56">
                  <c:v>10.98</c:v>
                </c:pt>
                <c:pt idx="57">
                  <c:v>3.76</c:v>
                </c:pt>
                <c:pt idx="58">
                  <c:v>0.82</c:v>
                </c:pt>
                <c:pt idx="59">
                  <c:v>0.12</c:v>
                </c:pt>
                <c:pt idx="60">
                  <c:v>0.34</c:v>
                </c:pt>
                <c:pt idx="61">
                  <c:v>0.11</c:v>
                </c:pt>
                <c:pt idx="62">
                  <c:v>0.18</c:v>
                </c:pt>
                <c:pt idx="63">
                  <c:v>0.05</c:v>
                </c:pt>
                <c:pt idx="64">
                  <c:v>0.04</c:v>
                </c:pt>
                <c:pt idx="65">
                  <c:v>0.04</c:v>
                </c:pt>
                <c:pt idx="66">
                  <c:v>0.03</c:v>
                </c:pt>
                <c:pt idx="67">
                  <c:v>0.04</c:v>
                </c:pt>
                <c:pt idx="68">
                  <c:v>0.02</c:v>
                </c:pt>
                <c:pt idx="69">
                  <c:v>0.02</c:v>
                </c:pt>
                <c:pt idx="70">
                  <c:v>0.01</c:v>
                </c:pt>
                <c:pt idx="71">
                  <c:v>0.02</c:v>
                </c:pt>
                <c:pt idx="72">
                  <c:v>0.02</c:v>
                </c:pt>
                <c:pt idx="73">
                  <c:v>0.01</c:v>
                </c:pt>
                <c:pt idx="74">
                  <c:v>0.05</c:v>
                </c:pt>
                <c:pt idx="75">
                  <c:v>0.02</c:v>
                </c:pt>
                <c:pt idx="76">
                  <c:v>0.02</c:v>
                </c:pt>
                <c:pt idx="77">
                  <c:v>0.07</c:v>
                </c:pt>
                <c:pt idx="78">
                  <c:v>0.02</c:v>
                </c:pt>
                <c:pt idx="79">
                  <c:v>0.06</c:v>
                </c:pt>
                <c:pt idx="80">
                  <c:v>0.21</c:v>
                </c:pt>
                <c:pt idx="81">
                  <c:v>0.06</c:v>
                </c:pt>
                <c:pt idx="82">
                  <c:v>0.03</c:v>
                </c:pt>
                <c:pt idx="83">
                  <c:v>0.04</c:v>
                </c:pt>
                <c:pt idx="84">
                  <c:v>0.11</c:v>
                </c:pt>
                <c:pt idx="85">
                  <c:v>0.38</c:v>
                </c:pt>
                <c:pt idx="86">
                  <c:v>0</c:v>
                </c:pt>
                <c:pt idx="87">
                  <c:v>0.01</c:v>
                </c:pt>
                <c:pt idx="88">
                  <c:v>0.04</c:v>
                </c:pt>
                <c:pt idx="89">
                  <c:v>0.02</c:v>
                </c:pt>
                <c:pt idx="90">
                  <c:v>0.08</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10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New cases per 100,000 population</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9.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2025*</c:v>
                </c:pt>
                <c:pt idx="1">
                  <c:v>2024</c:v>
                </c:pt>
                <c:pt idx="2">
                  <c:v>2023</c:v>
                </c:pt>
                <c:pt idx="3">
                  <c:v>2022</c:v>
                </c:pt>
                <c:pt idx="4">
                  <c:v>2021</c:v>
                </c:pt>
                <c:pt idx="5">
                  <c:v>2020</c:v>
                </c:pt>
                <c:pt idx="6">
                  <c:v>2019</c:v>
                </c:pt>
                <c:pt idx="7">
                  <c:v>2018</c:v>
                </c:pt>
                <c:pt idx="8">
                  <c:v>2017</c:v>
                </c:pt>
                <c:pt idx="9">
                  <c:v>2016</c:v>
                </c:pt>
                <c:pt idx="10">
                  <c:v>2015</c:v>
                </c:pt>
                <c:pt idx="11">
                  <c:v>2014</c:v>
                </c:pt>
                <c:pt idx="12">
                  <c:v>2013</c:v>
                </c:pt>
                <c:pt idx="13">
                  <c:v>2012</c:v>
                </c:pt>
                <c:pt idx="14">
                  <c:v>2011</c:v>
                </c:pt>
              </c:strCache>
            </c:strRef>
          </c:cat>
          <c:val>
            <c:numRef>
              <c:f>Sheet1!$B$2:$B$16</c:f>
              <c:numCache>
                <c:ptCount val="15"/>
                <c:pt idx="0">
                  <c:v>607</c:v>
                </c:pt>
                <c:pt idx="1">
                  <c:v>285</c:v>
                </c:pt>
                <c:pt idx="2">
                  <c:v>59</c:v>
                </c:pt>
                <c:pt idx="3">
                  <c:v>121</c:v>
                </c:pt>
                <c:pt idx="4">
                  <c:v>49</c:v>
                </c:pt>
                <c:pt idx="5">
                  <c:v>13</c:v>
                </c:pt>
                <c:pt idx="6">
                  <c:v>1274</c:v>
                </c:pt>
                <c:pt idx="7">
                  <c:v>381</c:v>
                </c:pt>
                <c:pt idx="8">
                  <c:v>120</c:v>
                </c:pt>
                <c:pt idx="9">
                  <c:v>86</c:v>
                </c:pt>
                <c:pt idx="10">
                  <c:v>191</c:v>
                </c:pt>
                <c:pt idx="11">
                  <c:v>667</c:v>
                </c:pt>
                <c:pt idx="12">
                  <c:v>187</c:v>
                </c:pt>
                <c:pt idx="13">
                  <c:v>55</c:v>
                </c:pt>
                <c:pt idx="14">
                  <c:v>220</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0.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Cases</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2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3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4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5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5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5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5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5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5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5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5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5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5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6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6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6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6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6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6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6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6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6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6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7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7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7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7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7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7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7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7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7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7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8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8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8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8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8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8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8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8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8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8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9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9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9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9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9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9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9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9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9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9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0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0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0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0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0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0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0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0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0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0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1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1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1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1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1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1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1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Lbl>
              <c:idx val="11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0"/>
              <c:showCatName val="0"/>
              <c:showSerName val="0"/>
              <c:showPercent val="0"/>
              <c:showBubbleSize val="0"/>
              <c:extLst/>
            </c:dLbl>
            <c:delete val="1"/>
            <c:extLst/>
          </c:dLbls>
          <c:cat>
            <c:strRef>
              <c:f>Sheet1!$A$2:$A$119</c:f>
              <c:strCache>
                <c:ptCount val="118"/>
                <c:pt idx="0">
                  <c:v>1/1/2023</c:v>
                </c:pt>
                <c:pt idx="1">
                  <c:v>1/8/2023</c:v>
                </c:pt>
                <c:pt idx="2">
                  <c:v>1/15/2023</c:v>
                </c:pt>
                <c:pt idx="3">
                  <c:v>1/22/2023</c:v>
                </c:pt>
                <c:pt idx="4">
                  <c:v>1/29/2023</c:v>
                </c:pt>
                <c:pt idx="5">
                  <c:v>2/5/2023</c:v>
                </c:pt>
                <c:pt idx="6">
                  <c:v>2/12/2023</c:v>
                </c:pt>
                <c:pt idx="7">
                  <c:v>2/19/2023</c:v>
                </c:pt>
                <c:pt idx="8">
                  <c:v>2/26/2023</c:v>
                </c:pt>
                <c:pt idx="9">
                  <c:v>3/5/2023</c:v>
                </c:pt>
                <c:pt idx="10">
                  <c:v>3/12/2023</c:v>
                </c:pt>
                <c:pt idx="11">
                  <c:v>3/19/2023</c:v>
                </c:pt>
                <c:pt idx="12">
                  <c:v>3/26/2023</c:v>
                </c:pt>
                <c:pt idx="13">
                  <c:v>4/2/2023</c:v>
                </c:pt>
                <c:pt idx="14">
                  <c:v>4/9/2023</c:v>
                </c:pt>
                <c:pt idx="15">
                  <c:v>4/16/2023</c:v>
                </c:pt>
                <c:pt idx="16">
                  <c:v>4/23/2023</c:v>
                </c:pt>
                <c:pt idx="17">
                  <c:v>4/30/2023</c:v>
                </c:pt>
                <c:pt idx="18">
                  <c:v>5/7/2023</c:v>
                </c:pt>
                <c:pt idx="19">
                  <c:v>5/14/2023</c:v>
                </c:pt>
                <c:pt idx="20">
                  <c:v>5/21/2023</c:v>
                </c:pt>
                <c:pt idx="21">
                  <c:v>5/28/2023</c:v>
                </c:pt>
                <c:pt idx="22">
                  <c:v>6/4/2023</c:v>
                </c:pt>
                <c:pt idx="23">
                  <c:v>6/11/2023</c:v>
                </c:pt>
                <c:pt idx="24">
                  <c:v>6/18/2023</c:v>
                </c:pt>
                <c:pt idx="25">
                  <c:v>6/25/2023</c:v>
                </c:pt>
                <c:pt idx="26">
                  <c:v>7/2/2023</c:v>
                </c:pt>
                <c:pt idx="27">
                  <c:v>7/9/2023</c:v>
                </c:pt>
                <c:pt idx="28">
                  <c:v>7/16/2023</c:v>
                </c:pt>
                <c:pt idx="29">
                  <c:v>7/23/2023</c:v>
                </c:pt>
                <c:pt idx="30">
                  <c:v>7/30/2023</c:v>
                </c:pt>
                <c:pt idx="31">
                  <c:v>8/6/2023</c:v>
                </c:pt>
                <c:pt idx="32">
                  <c:v>8/13/2023</c:v>
                </c:pt>
                <c:pt idx="33">
                  <c:v>8/20/2023</c:v>
                </c:pt>
                <c:pt idx="34">
                  <c:v>8/27/2023</c:v>
                </c:pt>
                <c:pt idx="35">
                  <c:v>9/3/2023</c:v>
                </c:pt>
                <c:pt idx="36">
                  <c:v>9/10/2023</c:v>
                </c:pt>
                <c:pt idx="37">
                  <c:v>9/17/2023</c:v>
                </c:pt>
                <c:pt idx="38">
                  <c:v>9/24/2023</c:v>
                </c:pt>
                <c:pt idx="39">
                  <c:v>10/1/2023</c:v>
                </c:pt>
                <c:pt idx="40">
                  <c:v>10/8/2023</c:v>
                </c:pt>
                <c:pt idx="41">
                  <c:v>10/15/2023</c:v>
                </c:pt>
                <c:pt idx="42">
                  <c:v>10/22/2023</c:v>
                </c:pt>
                <c:pt idx="43">
                  <c:v>10/29/2023</c:v>
                </c:pt>
                <c:pt idx="44">
                  <c:v>11/5/2023</c:v>
                </c:pt>
                <c:pt idx="45">
                  <c:v>11/12/2023</c:v>
                </c:pt>
                <c:pt idx="46">
                  <c:v>11/19/2023</c:v>
                </c:pt>
                <c:pt idx="47">
                  <c:v>11/26/2023</c:v>
                </c:pt>
                <c:pt idx="48">
                  <c:v>12/3/2023</c:v>
                </c:pt>
                <c:pt idx="49">
                  <c:v>12/10/2023</c:v>
                </c:pt>
                <c:pt idx="50">
                  <c:v>12/17/2023</c:v>
                </c:pt>
                <c:pt idx="51">
                  <c:v>12/24/2023</c:v>
                </c:pt>
                <c:pt idx="52">
                  <c:v>12/31/2023</c:v>
                </c:pt>
                <c:pt idx="53">
                  <c:v>1/7/2024</c:v>
                </c:pt>
                <c:pt idx="54">
                  <c:v>1/14/2024</c:v>
                </c:pt>
                <c:pt idx="55">
                  <c:v>1/21/2024</c:v>
                </c:pt>
                <c:pt idx="56">
                  <c:v>1/28/2024</c:v>
                </c:pt>
                <c:pt idx="57">
                  <c:v>2/4/2024</c:v>
                </c:pt>
                <c:pt idx="58">
                  <c:v>2/11/2024</c:v>
                </c:pt>
                <c:pt idx="59">
                  <c:v>2/18/2024</c:v>
                </c:pt>
                <c:pt idx="60">
                  <c:v>2/25/2024</c:v>
                </c:pt>
                <c:pt idx="61">
                  <c:v>3/3/2024</c:v>
                </c:pt>
                <c:pt idx="62">
                  <c:v>3/10/2024</c:v>
                </c:pt>
                <c:pt idx="63">
                  <c:v>3/17/2024</c:v>
                </c:pt>
                <c:pt idx="64">
                  <c:v>3/24/2024</c:v>
                </c:pt>
                <c:pt idx="65">
                  <c:v>3/31/2024</c:v>
                </c:pt>
                <c:pt idx="66">
                  <c:v>4/7/2024</c:v>
                </c:pt>
                <c:pt idx="67">
                  <c:v>4/14/2024</c:v>
                </c:pt>
                <c:pt idx="68">
                  <c:v>4/21/2024</c:v>
                </c:pt>
                <c:pt idx="69">
                  <c:v>4/28/2024</c:v>
                </c:pt>
                <c:pt idx="70">
                  <c:v>5/5/2024</c:v>
                </c:pt>
                <c:pt idx="71">
                  <c:v>5/12/2024</c:v>
                </c:pt>
                <c:pt idx="72">
                  <c:v>5/19/2024</c:v>
                </c:pt>
                <c:pt idx="73">
                  <c:v>5/26/2024</c:v>
                </c:pt>
                <c:pt idx="74">
                  <c:v>6/2/2024</c:v>
                </c:pt>
                <c:pt idx="75">
                  <c:v>6/9/2024</c:v>
                </c:pt>
                <c:pt idx="76">
                  <c:v>6/16/2024</c:v>
                </c:pt>
                <c:pt idx="77">
                  <c:v>6/23/2024</c:v>
                </c:pt>
                <c:pt idx="78">
                  <c:v>6/30/2024</c:v>
                </c:pt>
                <c:pt idx="79">
                  <c:v>7/7/2024</c:v>
                </c:pt>
                <c:pt idx="80">
                  <c:v>7/14/2024</c:v>
                </c:pt>
                <c:pt idx="81">
                  <c:v>7/21/2024</c:v>
                </c:pt>
                <c:pt idx="82">
                  <c:v>7/28/2024</c:v>
                </c:pt>
                <c:pt idx="83">
                  <c:v>8/4/2024</c:v>
                </c:pt>
                <c:pt idx="84">
                  <c:v>8/11/2024</c:v>
                </c:pt>
                <c:pt idx="85">
                  <c:v>8/18/2024</c:v>
                </c:pt>
                <c:pt idx="86">
                  <c:v>8/25/2024</c:v>
                </c:pt>
                <c:pt idx="87">
                  <c:v>9/1/2024</c:v>
                </c:pt>
                <c:pt idx="88">
                  <c:v>9/8/2024</c:v>
                </c:pt>
                <c:pt idx="89">
                  <c:v>9/15/2024</c:v>
                </c:pt>
                <c:pt idx="90">
                  <c:v>9/22/2024</c:v>
                </c:pt>
                <c:pt idx="91">
                  <c:v>9/29/2024</c:v>
                </c:pt>
                <c:pt idx="92">
                  <c:v>10/6/2024</c:v>
                </c:pt>
                <c:pt idx="93">
                  <c:v>10/13/2024</c:v>
                </c:pt>
                <c:pt idx="94">
                  <c:v>10/20/2024</c:v>
                </c:pt>
                <c:pt idx="95">
                  <c:v>10/27/2024</c:v>
                </c:pt>
                <c:pt idx="96">
                  <c:v>11/3/2024</c:v>
                </c:pt>
                <c:pt idx="97">
                  <c:v>11/10/2024</c:v>
                </c:pt>
                <c:pt idx="98">
                  <c:v>11/17/2024</c:v>
                </c:pt>
                <c:pt idx="99">
                  <c:v>11/24/2024</c:v>
                </c:pt>
                <c:pt idx="100">
                  <c:v>12/1/2024</c:v>
                </c:pt>
                <c:pt idx="101">
                  <c:v>12/8/2024</c:v>
                </c:pt>
                <c:pt idx="102">
                  <c:v>12/15/2024</c:v>
                </c:pt>
                <c:pt idx="103">
                  <c:v>12/22/2024</c:v>
                </c:pt>
                <c:pt idx="104">
                  <c:v>12/29/2024</c:v>
                </c:pt>
                <c:pt idx="105">
                  <c:v>1/5/2025</c:v>
                </c:pt>
                <c:pt idx="106">
                  <c:v>1/12/2025</c:v>
                </c:pt>
                <c:pt idx="107">
                  <c:v>1/19/2025</c:v>
                </c:pt>
                <c:pt idx="108">
                  <c:v>1/26/2025</c:v>
                </c:pt>
                <c:pt idx="109">
                  <c:v>2/2/2025</c:v>
                </c:pt>
                <c:pt idx="110">
                  <c:v>2/9/2025</c:v>
                </c:pt>
                <c:pt idx="111">
                  <c:v>2/16/2025</c:v>
                </c:pt>
                <c:pt idx="112">
                  <c:v>2/23/2025</c:v>
                </c:pt>
                <c:pt idx="113">
                  <c:v>3/2/2025</c:v>
                </c:pt>
                <c:pt idx="114">
                  <c:v>3/9/2025</c:v>
                </c:pt>
                <c:pt idx="115">
                  <c:v>3/16/2025</c:v>
                </c:pt>
                <c:pt idx="116">
                  <c:v>3/23/2025</c:v>
                </c:pt>
                <c:pt idx="117">
                  <c:v>3/30/2025</c:v>
                </c:pt>
              </c:strCache>
            </c:strRef>
          </c:cat>
          <c:val>
            <c:numRef>
              <c:f>Sheet1!$B$2:$B$119</c:f>
              <c:numCache>
                <c:ptCount val="118"/>
                <c:pt idx="0">
                  <c:v>0</c:v>
                </c:pt>
                <c:pt idx="1">
                  <c:v>1</c:v>
                </c:pt>
                <c:pt idx="2">
                  <c:v>1</c:v>
                </c:pt>
                <c:pt idx="3">
                  <c:v>0</c:v>
                </c:pt>
                <c:pt idx="4">
                  <c:v>0</c:v>
                </c:pt>
                <c:pt idx="5">
                  <c:v>0</c:v>
                </c:pt>
                <c:pt idx="6">
                  <c:v>0</c:v>
                </c:pt>
                <c:pt idx="7">
                  <c:v>1</c:v>
                </c:pt>
                <c:pt idx="8">
                  <c:v>0</c:v>
                </c:pt>
                <c:pt idx="9">
                  <c:v>1</c:v>
                </c:pt>
                <c:pt idx="10">
                  <c:v>1</c:v>
                </c:pt>
                <c:pt idx="11">
                  <c:v>1</c:v>
                </c:pt>
                <c:pt idx="12">
                  <c:v>1</c:v>
                </c:pt>
                <c:pt idx="13">
                  <c:v>1</c:v>
                </c:pt>
                <c:pt idx="14">
                  <c:v>2</c:v>
                </c:pt>
                <c:pt idx="15">
                  <c:v>0</c:v>
                </c:pt>
                <c:pt idx="16">
                  <c:v>0</c:v>
                </c:pt>
                <c:pt idx="17">
                  <c:v>1</c:v>
                </c:pt>
                <c:pt idx="18">
                  <c:v>0</c:v>
                </c:pt>
                <c:pt idx="19">
                  <c:v>2</c:v>
                </c:pt>
                <c:pt idx="20">
                  <c:v>2</c:v>
                </c:pt>
                <c:pt idx="21">
                  <c:v>2</c:v>
                </c:pt>
                <c:pt idx="22">
                  <c:v>1</c:v>
                </c:pt>
                <c:pt idx="23">
                  <c:v>0</c:v>
                </c:pt>
                <c:pt idx="24">
                  <c:v>0</c:v>
                </c:pt>
                <c:pt idx="25">
                  <c:v>0</c:v>
                </c:pt>
                <c:pt idx="26">
                  <c:v>0</c:v>
                </c:pt>
                <c:pt idx="27">
                  <c:v>0</c:v>
                </c:pt>
                <c:pt idx="28">
                  <c:v>0</c:v>
                </c:pt>
                <c:pt idx="29">
                  <c:v>2</c:v>
                </c:pt>
                <c:pt idx="30">
                  <c:v>0</c:v>
                </c:pt>
                <c:pt idx="31">
                  <c:v>1</c:v>
                </c:pt>
                <c:pt idx="32">
                  <c:v>0</c:v>
                </c:pt>
                <c:pt idx="33">
                  <c:v>1</c:v>
                </c:pt>
                <c:pt idx="34">
                  <c:v>0</c:v>
                </c:pt>
                <c:pt idx="35">
                  <c:v>0</c:v>
                </c:pt>
                <c:pt idx="36">
                  <c:v>3</c:v>
                </c:pt>
                <c:pt idx="37">
                  <c:v>1</c:v>
                </c:pt>
                <c:pt idx="38">
                  <c:v>5</c:v>
                </c:pt>
                <c:pt idx="39">
                  <c:v>5</c:v>
                </c:pt>
                <c:pt idx="40">
                  <c:v>1</c:v>
                </c:pt>
                <c:pt idx="41">
                  <c:v>1</c:v>
                </c:pt>
                <c:pt idx="42">
                  <c:v>0</c:v>
                </c:pt>
                <c:pt idx="43">
                  <c:v>2</c:v>
                </c:pt>
                <c:pt idx="44">
                  <c:v>1</c:v>
                </c:pt>
                <c:pt idx="45">
                  <c:v>0</c:v>
                </c:pt>
                <c:pt idx="46">
                  <c:v>0</c:v>
                </c:pt>
                <c:pt idx="47">
                  <c:v>0</c:v>
                </c:pt>
                <c:pt idx="48">
                  <c:v>2</c:v>
                </c:pt>
                <c:pt idx="49">
                  <c:v>2</c:v>
                </c:pt>
                <c:pt idx="50">
                  <c:v>3</c:v>
                </c:pt>
                <c:pt idx="51">
                  <c:v>11</c:v>
                </c:pt>
                <c:pt idx="52">
                  <c:v>4</c:v>
                </c:pt>
                <c:pt idx="53">
                  <c:v>4</c:v>
                </c:pt>
                <c:pt idx="54">
                  <c:v>2</c:v>
                </c:pt>
                <c:pt idx="55">
                  <c:v>2</c:v>
                </c:pt>
                <c:pt idx="56">
                  <c:v>5</c:v>
                </c:pt>
                <c:pt idx="57">
                  <c:v>3</c:v>
                </c:pt>
                <c:pt idx="58">
                  <c:v>14</c:v>
                </c:pt>
                <c:pt idx="59">
                  <c:v>9</c:v>
                </c:pt>
                <c:pt idx="60">
                  <c:v>6</c:v>
                </c:pt>
                <c:pt idx="61">
                  <c:v>3</c:v>
                </c:pt>
                <c:pt idx="62">
                  <c:v>12</c:v>
                </c:pt>
                <c:pt idx="63">
                  <c:v>38</c:v>
                </c:pt>
                <c:pt idx="64">
                  <c:v>9</c:v>
                </c:pt>
                <c:pt idx="65">
                  <c:v>10</c:v>
                </c:pt>
                <c:pt idx="66">
                  <c:v>4</c:v>
                </c:pt>
                <c:pt idx="67">
                  <c:v>3</c:v>
                </c:pt>
                <c:pt idx="68">
                  <c:v>4</c:v>
                </c:pt>
                <c:pt idx="69">
                  <c:v>0</c:v>
                </c:pt>
                <c:pt idx="70">
                  <c:v>4</c:v>
                </c:pt>
                <c:pt idx="71">
                  <c:v>5</c:v>
                </c:pt>
                <c:pt idx="72">
                  <c:v>5</c:v>
                </c:pt>
                <c:pt idx="73">
                  <c:v>6</c:v>
                </c:pt>
                <c:pt idx="74">
                  <c:v>0</c:v>
                </c:pt>
                <c:pt idx="75">
                  <c:v>4</c:v>
                </c:pt>
                <c:pt idx="76">
                  <c:v>4</c:v>
                </c:pt>
                <c:pt idx="77">
                  <c:v>3</c:v>
                </c:pt>
                <c:pt idx="78">
                  <c:v>7</c:v>
                </c:pt>
                <c:pt idx="79">
                  <c:v>13</c:v>
                </c:pt>
                <c:pt idx="80">
                  <c:v>11</c:v>
                </c:pt>
                <c:pt idx="81">
                  <c:v>7</c:v>
                </c:pt>
                <c:pt idx="82">
                  <c:v>12</c:v>
                </c:pt>
                <c:pt idx="83">
                  <c:v>7</c:v>
                </c:pt>
                <c:pt idx="84">
                  <c:v>9</c:v>
                </c:pt>
                <c:pt idx="85">
                  <c:v>8</c:v>
                </c:pt>
                <c:pt idx="86">
                  <c:v>11</c:v>
                </c:pt>
                <c:pt idx="87">
                  <c:v>10</c:v>
                </c:pt>
                <c:pt idx="88">
                  <c:v>3</c:v>
                </c:pt>
                <c:pt idx="89">
                  <c:v>3</c:v>
                </c:pt>
                <c:pt idx="90">
                  <c:v>1</c:v>
                </c:pt>
                <c:pt idx="91">
                  <c:v>2</c:v>
                </c:pt>
                <c:pt idx="92">
                  <c:v>1</c:v>
                </c:pt>
                <c:pt idx="93">
                  <c:v>3</c:v>
                </c:pt>
                <c:pt idx="94">
                  <c:v>1</c:v>
                </c:pt>
                <c:pt idx="95">
                  <c:v>3</c:v>
                </c:pt>
                <c:pt idx="96">
                  <c:v>4</c:v>
                </c:pt>
                <c:pt idx="97">
                  <c:v>3</c:v>
                </c:pt>
                <c:pt idx="98">
                  <c:v>0</c:v>
                </c:pt>
                <c:pt idx="99">
                  <c:v>2</c:v>
                </c:pt>
                <c:pt idx="100">
                  <c:v>0</c:v>
                </c:pt>
                <c:pt idx="101">
                  <c:v>0</c:v>
                </c:pt>
                <c:pt idx="102">
                  <c:v>0</c:v>
                </c:pt>
                <c:pt idx="103">
                  <c:v>1</c:v>
                </c:pt>
                <c:pt idx="104">
                  <c:v>1</c:v>
                </c:pt>
                <c:pt idx="105">
                  <c:v>2</c:v>
                </c:pt>
                <c:pt idx="106">
                  <c:v>1</c:v>
                </c:pt>
                <c:pt idx="107">
                  <c:v>8</c:v>
                </c:pt>
                <c:pt idx="108">
                  <c:v>16</c:v>
                </c:pt>
                <c:pt idx="109">
                  <c:v>25</c:v>
                </c:pt>
                <c:pt idx="110">
                  <c:v>65</c:v>
                </c:pt>
                <c:pt idx="111">
                  <c:v>85</c:v>
                </c:pt>
                <c:pt idx="112">
                  <c:v>70</c:v>
                </c:pt>
                <c:pt idx="113">
                  <c:v>83</c:v>
                </c:pt>
                <c:pt idx="114">
                  <c:v>69</c:v>
                </c:pt>
                <c:pt idx="115">
                  <c:v>85</c:v>
                </c:pt>
                <c:pt idx="116">
                  <c:v>71</c:v>
                </c:pt>
                <c:pt idx="117">
                  <c:v>26</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cases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ineChart>
        <c:grouping/>
        <c:varyColors val="0"/>
        <c:ser>
          <c:idx val="0"/>
          <c:order val="0"/>
          <c:tx>
            <c:strRef>
              <c:f>Sheet1!$B$1</c:f>
              <c:strCache>
                <c:ptCount val="1"/>
                <c:pt idx="0">
                  <c:v>Column1</c:v>
                </c:pt>
              </c:strCache>
            </c:strRef>
          </c:tx>
          <c:spPr>
            <a:ln>
              <a:solidFill>
                <a:srgbClr val="2875DD"/>
              </a:solidFill>
            </a:ln>
          </c:spPr>
          <c:marker>
            <c:symbol val="circle"/>
            <c:spPr>
              <a:solidFill>
                <a:srgbClr val="2875DD"/>
              </a:solidFill>
              <a:ln>
                <a:solidFill>
                  <a:srgbClr val="2875DD"/>
                </a:solidFill>
              </a:ln>
            </c:spPr>
          </c:marker>
          <c:dLbls>
            <c:dLbl>
              <c:idx val="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1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2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39"/>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3"/>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4"/>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5"/>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6"/>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7"/>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8"/>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4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5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0"/>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1"/>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2"/>
              <c:numFmt formatCode="#,##0.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6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7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4"/>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5"/>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6"/>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7"/>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8"/>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89"/>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Lbl>
              <c:idx val="9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t"/>
              <c:showLegendKey val="0"/>
              <c:showVal val="0"/>
              <c:showCatName val="0"/>
              <c:showSerName val="0"/>
              <c:showPercent val="0"/>
              <c:showBubbleSize val="0"/>
              <c:extLst/>
            </c:dLbl>
            <c:delete val="1"/>
            <c:extLst/>
          </c:dLbls>
          <c:cat>
            <c:numRef>
              <c:f>Sheet1!$A$2:$A$94</c:f>
              <c:numCache>
                <c:formatCode>General</c:formatCode>
                <c:ptCount val="93"/>
                <c:pt idx="0">
                  <c:v>1919</c:v>
                </c:pt>
                <c:pt idx="1">
                  <c:v>1921</c:v>
                </c:pt>
                <c:pt idx="2">
                  <c:v>1922</c:v>
                </c:pt>
                <c:pt idx="3">
                  <c:v>1923</c:v>
                </c:pt>
                <c:pt idx="4">
                  <c:v>1924</c:v>
                </c:pt>
                <c:pt idx="5">
                  <c:v>1925</c:v>
                </c:pt>
                <c:pt idx="6">
                  <c:v>1926</c:v>
                </c:pt>
                <c:pt idx="7">
                  <c:v>1927</c:v>
                </c:pt>
                <c:pt idx="8">
                  <c:v>1928</c:v>
                </c:pt>
                <c:pt idx="9">
                  <c:v>1929</c:v>
                </c:pt>
                <c:pt idx="10">
                  <c:v>1931</c:v>
                </c:pt>
                <c:pt idx="11">
                  <c:v>1932</c:v>
                </c:pt>
                <c:pt idx="12">
                  <c:v>1933</c:v>
                </c:pt>
                <c:pt idx="13">
                  <c:v>1934</c:v>
                </c:pt>
                <c:pt idx="14">
                  <c:v>1935</c:v>
                </c:pt>
                <c:pt idx="15">
                  <c:v>1936</c:v>
                </c:pt>
                <c:pt idx="16">
                  <c:v>1937</c:v>
                </c:pt>
                <c:pt idx="17">
                  <c:v>1938</c:v>
                </c:pt>
                <c:pt idx="18">
                  <c:v>1939</c:v>
                </c:pt>
                <c:pt idx="19">
                  <c:v>1940</c:v>
                </c:pt>
                <c:pt idx="20">
                  <c:v>1949</c:v>
                </c:pt>
                <c:pt idx="21">
                  <c:v>1950</c:v>
                </c:pt>
                <c:pt idx="22">
                  <c:v>1951</c:v>
                </c:pt>
                <c:pt idx="23">
                  <c:v>1952</c:v>
                </c:pt>
                <c:pt idx="24">
                  <c:v>1953</c:v>
                </c:pt>
                <c:pt idx="25">
                  <c:v>1954</c:v>
                </c:pt>
                <c:pt idx="26">
                  <c:v>1955</c:v>
                </c:pt>
                <c:pt idx="27">
                  <c:v>1956</c:v>
                </c:pt>
                <c:pt idx="28">
                  <c:v>1957</c:v>
                </c:pt>
                <c:pt idx="29">
                  <c:v>1958</c:v>
                </c:pt>
                <c:pt idx="30">
                  <c:v>1959</c:v>
                </c:pt>
                <c:pt idx="31">
                  <c:v>1960</c:v>
                </c:pt>
                <c:pt idx="32">
                  <c:v>1961</c:v>
                </c:pt>
                <c:pt idx="33">
                  <c:v>1962</c:v>
                </c:pt>
                <c:pt idx="34">
                  <c:v>1963</c:v>
                </c:pt>
                <c:pt idx="35">
                  <c:v>1964</c:v>
                </c:pt>
                <c:pt idx="36">
                  <c:v>1965</c:v>
                </c:pt>
                <c:pt idx="37">
                  <c:v>1966</c:v>
                </c:pt>
                <c:pt idx="38">
                  <c:v>1967</c:v>
                </c:pt>
                <c:pt idx="39">
                  <c:v>1968</c:v>
                </c:pt>
                <c:pt idx="40">
                  <c:v>1969</c:v>
                </c:pt>
                <c:pt idx="41">
                  <c:v>1970</c:v>
                </c:pt>
                <c:pt idx="42">
                  <c:v>1971</c:v>
                </c:pt>
                <c:pt idx="43">
                  <c:v>1972</c:v>
                </c:pt>
                <c:pt idx="44">
                  <c:v>1973</c:v>
                </c:pt>
                <c:pt idx="45">
                  <c:v>1974</c:v>
                </c:pt>
                <c:pt idx="46">
                  <c:v>1975</c:v>
                </c:pt>
                <c:pt idx="47">
                  <c:v>1976</c:v>
                </c:pt>
                <c:pt idx="48">
                  <c:v>1977</c:v>
                </c:pt>
                <c:pt idx="49">
                  <c:v>1978</c:v>
                </c:pt>
                <c:pt idx="50">
                  <c:v>1979</c:v>
                </c:pt>
                <c:pt idx="51">
                  <c:v>1980</c:v>
                </c:pt>
                <c:pt idx="52">
                  <c:v>1981</c:v>
                </c:pt>
                <c:pt idx="53">
                  <c:v>1982</c:v>
                </c:pt>
                <c:pt idx="54">
                  <c:v>1983</c:v>
                </c:pt>
                <c:pt idx="55">
                  <c:v>1984</c:v>
                </c:pt>
                <c:pt idx="56">
                  <c:v>1985</c:v>
                </c:pt>
                <c:pt idx="57">
                  <c:v>1986</c:v>
                </c:pt>
                <c:pt idx="58">
                  <c:v>1987</c:v>
                </c:pt>
                <c:pt idx="59">
                  <c:v>1988</c:v>
                </c:pt>
                <c:pt idx="60">
                  <c:v>1989</c:v>
                </c:pt>
                <c:pt idx="61">
                  <c:v>1990</c:v>
                </c:pt>
                <c:pt idx="62">
                  <c:v>1991</c:v>
                </c:pt>
                <c:pt idx="63">
                  <c:v>1992</c:v>
                </c:pt>
                <c:pt idx="64">
                  <c:v>1993</c:v>
                </c:pt>
                <c:pt idx="65">
                  <c:v>1994</c:v>
                </c:pt>
                <c:pt idx="66">
                  <c:v>1995</c:v>
                </c:pt>
                <c:pt idx="67">
                  <c:v>1996</c:v>
                </c:pt>
                <c:pt idx="68">
                  <c:v>1997</c:v>
                </c:pt>
                <c:pt idx="69">
                  <c:v>1998</c:v>
                </c:pt>
                <c:pt idx="70">
                  <c:v>1999</c:v>
                </c:pt>
                <c:pt idx="71">
                  <c:v>2000</c:v>
                </c:pt>
                <c:pt idx="72">
                  <c:v>2001</c:v>
                </c:pt>
                <c:pt idx="73">
                  <c:v>2002</c:v>
                </c:pt>
                <c:pt idx="74">
                  <c:v>2003</c:v>
                </c:pt>
                <c:pt idx="75">
                  <c:v>2004</c:v>
                </c:pt>
                <c:pt idx="76">
                  <c:v>2005</c:v>
                </c:pt>
                <c:pt idx="77">
                  <c:v>2006</c:v>
                </c:pt>
                <c:pt idx="78">
                  <c:v>2007</c:v>
                </c:pt>
                <c:pt idx="79">
                  <c:v>2008</c:v>
                </c:pt>
                <c:pt idx="80">
                  <c:v>2009</c:v>
                </c:pt>
                <c:pt idx="81">
                  <c:v>2010</c:v>
                </c:pt>
                <c:pt idx="82">
                  <c:v>2011</c:v>
                </c:pt>
                <c:pt idx="83">
                  <c:v>2012</c:v>
                </c:pt>
                <c:pt idx="84">
                  <c:v>2013</c:v>
                </c:pt>
                <c:pt idx="85">
                  <c:v>2014</c:v>
                </c:pt>
                <c:pt idx="86">
                  <c:v>2015</c:v>
                </c:pt>
                <c:pt idx="87">
                  <c:v>2016</c:v>
                </c:pt>
                <c:pt idx="88">
                  <c:v>2017</c:v>
                </c:pt>
                <c:pt idx="89">
                  <c:v>2018</c:v>
                </c:pt>
                <c:pt idx="90">
                  <c:v>2019</c:v>
                </c:pt>
                <c:pt idx="91">
                  <c:v>2020</c:v>
                </c:pt>
                <c:pt idx="92">
                  <c:v>2021</c:v>
                </c:pt>
              </c:numCache>
            </c:numRef>
          </c:cat>
          <c:val>
            <c:numRef>
              <c:f>Sheet1!$B$2:$B$94</c:f>
              <c:numCache>
                <c:ptCount val="93"/>
                <c:pt idx="0">
                  <c:v>12.69</c:v>
                </c:pt>
                <c:pt idx="1">
                  <c:v>3.63</c:v>
                </c:pt>
                <c:pt idx="2">
                  <c:v>3.75</c:v>
                </c:pt>
                <c:pt idx="3">
                  <c:v>9.63</c:v>
                </c:pt>
                <c:pt idx="4">
                  <c:v>7.6</c:v>
                </c:pt>
                <c:pt idx="5">
                  <c:v>2.07</c:v>
                </c:pt>
                <c:pt idx="6">
                  <c:v>7.59</c:v>
                </c:pt>
                <c:pt idx="7">
                  <c:v>3.85</c:v>
                </c:pt>
                <c:pt idx="8">
                  <c:v>5.27</c:v>
                </c:pt>
                <c:pt idx="9">
                  <c:v>2.47</c:v>
                </c:pt>
                <c:pt idx="10">
                  <c:v>2.96</c:v>
                </c:pt>
                <c:pt idx="11">
                  <c:v>1.59</c:v>
                </c:pt>
                <c:pt idx="12">
                  <c:v>2.29</c:v>
                </c:pt>
                <c:pt idx="13">
                  <c:v>5.65</c:v>
                </c:pt>
                <c:pt idx="14">
                  <c:v>3.14</c:v>
                </c:pt>
                <c:pt idx="15">
                  <c:v>1.01</c:v>
                </c:pt>
                <c:pt idx="16">
                  <c:v>1.11</c:v>
                </c:pt>
                <c:pt idx="17">
                  <c:v>2.54</c:v>
                </c:pt>
                <c:pt idx="18">
                  <c:v>0.91</c:v>
                </c:pt>
                <c:pt idx="19">
                  <c:v>0.53</c:v>
                </c:pt>
                <c:pt idx="20">
                  <c:v>0.65</c:v>
                </c:pt>
                <c:pt idx="21">
                  <c:v>0.3</c:v>
                </c:pt>
                <c:pt idx="22">
                  <c:v>0.44</c:v>
                </c:pt>
                <c:pt idx="23">
                  <c:v>0.39</c:v>
                </c:pt>
                <c:pt idx="24">
                  <c:v>0.29</c:v>
                </c:pt>
                <c:pt idx="25">
                  <c:v>0.32</c:v>
                </c:pt>
                <c:pt idx="26">
                  <c:v>0.21</c:v>
                </c:pt>
                <c:pt idx="27">
                  <c:v>0.31</c:v>
                </c:pt>
                <c:pt idx="28">
                  <c:v>0.23</c:v>
                </c:pt>
                <c:pt idx="29">
                  <c:v>0.32</c:v>
                </c:pt>
                <c:pt idx="30">
                  <c:v>0.22</c:v>
                </c:pt>
                <c:pt idx="31">
                  <c:v>0.21</c:v>
                </c:pt>
                <c:pt idx="32">
                  <c:v>0.24</c:v>
                </c:pt>
                <c:pt idx="33">
                  <c:v>0.22</c:v>
                </c:pt>
                <c:pt idx="34">
                  <c:v>0.19</c:v>
                </c:pt>
                <c:pt idx="35">
                  <c:v>0.22</c:v>
                </c:pt>
                <c:pt idx="36">
                  <c:v>0.14</c:v>
                </c:pt>
                <c:pt idx="37">
                  <c:v>0.13</c:v>
                </c:pt>
                <c:pt idx="38">
                  <c:v>0.04</c:v>
                </c:pt>
                <c:pt idx="39">
                  <c:v>0.01</c:v>
                </c:pt>
                <c:pt idx="40">
                  <c:v>0.02</c:v>
                </c:pt>
                <c:pt idx="41">
                  <c:v>0.04</c:v>
                </c:pt>
                <c:pt idx="42">
                  <c:v>0.04</c:v>
                </c:pt>
                <c:pt idx="43">
                  <c:v>0.01</c:v>
                </c:pt>
                <c:pt idx="44">
                  <c:v>0.01</c:v>
                </c:pt>
                <c:pt idx="45">
                  <c:v>0.01</c:v>
                </c:pt>
                <c:pt idx="46">
                  <c:v>0.01</c:v>
                </c:pt>
                <c:pt idx="47">
                  <c:v>0.01</c:v>
                </c:pt>
                <c:pt idx="48">
                  <c:v>0.01</c:v>
                </c:pt>
                <c:pt idx="49">
                  <c:v>0</c:v>
                </c:pt>
                <c:pt idx="50">
                  <c:v>0</c:v>
                </c:pt>
                <c:pt idx="51">
                  <c:v>0</c:v>
                </c:pt>
                <c:pt idx="52">
                  <c:v>0</c:v>
                </c:pt>
                <c:pt idx="53">
                  <c:v>0</c:v>
                </c:pt>
                <c:pt idx="54">
                  <c:v>0</c:v>
                </c:pt>
                <c:pt idx="55">
                  <c:v>0</c:v>
                </c:pt>
                <c:pt idx="56">
                  <c:v>0</c:v>
                </c:pt>
                <c:pt idx="57">
                  <c:v>0</c:v>
                </c:pt>
                <c:pt idx="58">
                  <c:v>0</c:v>
                </c:pt>
                <c:pt idx="59">
                  <c:v>0</c:v>
                </c:pt>
                <c:pt idx="60">
                  <c:v>0.01</c:v>
                </c:pt>
                <c:pt idx="61">
                  <c:v>0.03</c:v>
                </c:pt>
                <c:pt idx="62">
                  <c:v>0.01</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numCache>
            </c:numRef>
          </c:val>
          <c:smooth val="0"/>
        </c:ser>
        <c:dLbls>
          <c:showLegendKey val="0"/>
          <c:showVal val="0"/>
          <c:showCatName val="0"/>
          <c:showSerName val="0"/>
          <c:showPercent val="0"/>
          <c:showBubbleSize val="0"/>
          <c:showLeaderLines val="0"/>
        </c:dLbls>
        <c:axId val="67451136"/>
        <c:axId val="66437120"/>
      </c:line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5"/>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deaths per 100,000 population</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stacked"/>
        <c:varyColors val="0"/>
        <c:ser>
          <c:idx val="0"/>
          <c:order val="0"/>
          <c:tx>
            <c:strRef>
              <c:f>Sheet1!$B$1</c:f>
              <c:strCache>
                <c:ptCount val="1"/>
                <c:pt idx="0">
                  <c:v>0-5 months</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4"/>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numRef>
              <c:f>Sheet1!$A$2:$A$6</c:f>
              <c:numCache>
                <c:formatCode>General</c:formatCode>
                <c:ptCount val="5"/>
                <c:pt idx="0">
                  <c:v>2020</c:v>
                </c:pt>
                <c:pt idx="1">
                  <c:v>2021</c:v>
                </c:pt>
                <c:pt idx="2">
                  <c:v>2022</c:v>
                </c:pt>
                <c:pt idx="3">
                  <c:v>2023</c:v>
                </c:pt>
                <c:pt idx="4">
                  <c:v>2024</c:v>
                </c:pt>
              </c:numCache>
            </c:numRef>
          </c:cat>
          <c:val>
            <c:numRef>
              <c:f>Sheet1!$B$2:$B$6</c:f>
              <c:numCache>
                <c:ptCount val="5"/>
                <c:pt idx="0">
                  <c:v>0</c:v>
                </c:pt>
                <c:pt idx="1">
                  <c:v>5</c:v>
                </c:pt>
                <c:pt idx="2">
                  <c:v>0</c:v>
                </c:pt>
                <c:pt idx="3">
                  <c:v>0</c:v>
                </c:pt>
                <c:pt idx="4">
                  <c:v>5</c:v>
                </c:pt>
              </c:numCache>
            </c:numRef>
          </c:val>
        </c:ser>
        <c:ser>
          <c:idx val="1"/>
          <c:order val="1"/>
          <c:tx>
            <c:strRef>
              <c:f>Sheet1!$C$1</c:f>
              <c:strCache>
                <c:ptCount val="1"/>
                <c:pt idx="0">
                  <c:v>6-11 months</c:v>
                </c:pt>
              </c:strCache>
            </c:strRef>
          </c:tx>
          <c:spPr>
            <a:solidFill>
              <a:srgbClr val="0F283E"/>
            </a:solidFill>
            <a:ln>
              <a:solidFill>
                <a:srgbClr val="0F283E"/>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4"/>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numRef>
              <c:f>Sheet1!$A$2:$A$6</c:f>
              <c:numCache>
                <c:formatCode>General</c:formatCode>
                <c:ptCount val="5"/>
                <c:pt idx="0">
                  <c:v>2020</c:v>
                </c:pt>
                <c:pt idx="1">
                  <c:v>2021</c:v>
                </c:pt>
                <c:pt idx="2">
                  <c:v>2022</c:v>
                </c:pt>
                <c:pt idx="3">
                  <c:v>2023</c:v>
                </c:pt>
                <c:pt idx="4">
                  <c:v>2024</c:v>
                </c:pt>
              </c:numCache>
            </c:numRef>
          </c:cat>
          <c:val>
            <c:numRef>
              <c:f>Sheet1!$C$2:$C$6</c:f>
              <c:numCache>
                <c:ptCount val="5"/>
                <c:pt idx="0">
                  <c:v>0</c:v>
                </c:pt>
                <c:pt idx="1">
                  <c:v>11</c:v>
                </c:pt>
                <c:pt idx="2">
                  <c:v>26</c:v>
                </c:pt>
                <c:pt idx="3">
                  <c:v>6</c:v>
                </c:pt>
                <c:pt idx="4">
                  <c:v>14</c:v>
                </c:pt>
              </c:numCache>
            </c:numRef>
          </c:val>
        </c:ser>
        <c:ser>
          <c:idx val="2"/>
          <c:order val="2"/>
          <c:tx>
            <c:strRef>
              <c:f>Sheet1!$D$1</c:f>
              <c:strCache>
                <c:ptCount val="1"/>
                <c:pt idx="0">
                  <c:v>12-15 months</c:v>
                </c:pt>
              </c:strCache>
            </c:strRef>
          </c:tx>
          <c:spPr>
            <a:solidFill>
              <a:srgbClr val="BABABA"/>
            </a:solidFill>
            <a:ln>
              <a:solidFill>
                <a:srgbClr val="BABABA"/>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4"/>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numRef>
              <c:f>Sheet1!$A$2:$A$6</c:f>
              <c:numCache>
                <c:formatCode>General</c:formatCode>
                <c:ptCount val="5"/>
                <c:pt idx="0">
                  <c:v>2020</c:v>
                </c:pt>
                <c:pt idx="1">
                  <c:v>2021</c:v>
                </c:pt>
                <c:pt idx="2">
                  <c:v>2022</c:v>
                </c:pt>
                <c:pt idx="3">
                  <c:v>2023</c:v>
                </c:pt>
                <c:pt idx="4">
                  <c:v>2024</c:v>
                </c:pt>
              </c:numCache>
            </c:numRef>
          </c:cat>
          <c:val>
            <c:numRef>
              <c:f>Sheet1!$D$2:$D$6</c:f>
              <c:numCache>
                <c:ptCount val="5"/>
                <c:pt idx="0">
                  <c:v>1</c:v>
                </c:pt>
                <c:pt idx="1">
                  <c:v>5</c:v>
                </c:pt>
                <c:pt idx="2">
                  <c:v>13</c:v>
                </c:pt>
                <c:pt idx="3">
                  <c:v>3</c:v>
                </c:pt>
                <c:pt idx="4">
                  <c:v>7</c:v>
                </c:pt>
              </c:numCache>
            </c:numRef>
          </c:val>
        </c:ser>
        <c:ser>
          <c:idx val="3"/>
          <c:order val="3"/>
          <c:tx>
            <c:strRef>
              <c:f>Sheet1!$E$1</c:f>
              <c:strCache>
                <c:ptCount val="1"/>
                <c:pt idx="0">
                  <c:v>16 months-4 years</c:v>
                </c:pt>
              </c:strCache>
            </c:strRef>
          </c:tx>
          <c:spPr>
            <a:solidFill>
              <a:srgbClr val="A60B0B"/>
            </a:solidFill>
            <a:ln>
              <a:solidFill>
                <a:srgbClr val="A60B0B"/>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4"/>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numRef>
              <c:f>Sheet1!$A$2:$A$6</c:f>
              <c:numCache>
                <c:formatCode>General</c:formatCode>
                <c:ptCount val="5"/>
                <c:pt idx="0">
                  <c:v>2020</c:v>
                </c:pt>
                <c:pt idx="1">
                  <c:v>2021</c:v>
                </c:pt>
                <c:pt idx="2">
                  <c:v>2022</c:v>
                </c:pt>
                <c:pt idx="3">
                  <c:v>2023</c:v>
                </c:pt>
                <c:pt idx="4">
                  <c:v>2024</c:v>
                </c:pt>
              </c:numCache>
            </c:numRef>
          </c:cat>
          <c:val>
            <c:numRef>
              <c:f>Sheet1!$E$2:$E$6</c:f>
              <c:numCache>
                <c:ptCount val="5"/>
                <c:pt idx="0">
                  <c:v>2</c:v>
                </c:pt>
                <c:pt idx="1">
                  <c:v>13</c:v>
                </c:pt>
                <c:pt idx="2">
                  <c:v>52</c:v>
                </c:pt>
                <c:pt idx="3">
                  <c:v>15</c:v>
                </c:pt>
                <c:pt idx="4">
                  <c:v>24</c:v>
                </c:pt>
              </c:numCache>
            </c:numRef>
          </c:val>
        </c:ser>
        <c:ser>
          <c:idx val="4"/>
          <c:order val="4"/>
          <c:tx>
            <c:strRef>
              <c:f>Sheet1!$F$1</c:f>
              <c:strCache>
                <c:ptCount val="1"/>
                <c:pt idx="0">
                  <c:v>5-19 years</c:v>
                </c:pt>
              </c:strCache>
            </c:strRef>
          </c:tx>
          <c:spPr>
            <a:solidFill>
              <a:srgbClr val="87BC24"/>
            </a:solidFill>
            <a:ln>
              <a:solidFill>
                <a:srgbClr val="87BC24"/>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4"/>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numRef>
              <c:f>Sheet1!$A$2:$A$6</c:f>
              <c:numCache>
                <c:formatCode>General</c:formatCode>
                <c:ptCount val="5"/>
                <c:pt idx="0">
                  <c:v>2020</c:v>
                </c:pt>
                <c:pt idx="1">
                  <c:v>2021</c:v>
                </c:pt>
                <c:pt idx="2">
                  <c:v>2022</c:v>
                </c:pt>
                <c:pt idx="3">
                  <c:v>2023</c:v>
                </c:pt>
                <c:pt idx="4">
                  <c:v>2024</c:v>
                </c:pt>
              </c:numCache>
            </c:numRef>
          </c:cat>
          <c:val>
            <c:numRef>
              <c:f>Sheet1!$F$2:$F$6</c:f>
              <c:numCache>
                <c:ptCount val="5"/>
                <c:pt idx="0">
                  <c:v>2</c:v>
                </c:pt>
                <c:pt idx="1">
                  <c:v>12</c:v>
                </c:pt>
                <c:pt idx="2">
                  <c:v>29</c:v>
                </c:pt>
                <c:pt idx="3">
                  <c:v>20</c:v>
                </c:pt>
                <c:pt idx="4">
                  <c:v>22</c:v>
                </c:pt>
              </c:numCache>
            </c:numRef>
          </c:val>
        </c:ser>
        <c:ser>
          <c:idx val="5"/>
          <c:order val="5"/>
          <c:tx>
            <c:strRef>
              <c:f>Sheet1!$G$1</c:f>
              <c:strCache>
                <c:ptCount val="1"/>
                <c:pt idx="0">
                  <c:v>20-49 years</c:v>
                </c:pt>
              </c:strCache>
            </c:strRef>
          </c:tx>
          <c:spPr>
            <a:solidFill>
              <a:srgbClr val="EBB523"/>
            </a:solidFill>
            <a:ln>
              <a:solidFill>
                <a:srgbClr val="EBB523"/>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4"/>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numRef>
              <c:f>Sheet1!$A$2:$A$6</c:f>
              <c:numCache>
                <c:formatCode>General</c:formatCode>
                <c:ptCount val="5"/>
                <c:pt idx="0">
                  <c:v>2020</c:v>
                </c:pt>
                <c:pt idx="1">
                  <c:v>2021</c:v>
                </c:pt>
                <c:pt idx="2">
                  <c:v>2022</c:v>
                </c:pt>
                <c:pt idx="3">
                  <c:v>2023</c:v>
                </c:pt>
                <c:pt idx="4">
                  <c:v>2024</c:v>
                </c:pt>
              </c:numCache>
            </c:numRef>
          </c:cat>
          <c:val>
            <c:numRef>
              <c:f>Sheet1!$G$2:$G$6</c:f>
              <c:numCache>
                <c:ptCount val="5"/>
                <c:pt idx="0">
                  <c:v>8</c:v>
                </c:pt>
                <c:pt idx="1">
                  <c:v>3</c:v>
                </c:pt>
                <c:pt idx="2">
                  <c:v>1</c:v>
                </c:pt>
                <c:pt idx="3">
                  <c:v>14</c:v>
                </c:pt>
                <c:pt idx="4">
                  <c:v>21</c:v>
                </c:pt>
              </c:numCache>
            </c:numRef>
          </c:val>
        </c:ser>
        <c:ser>
          <c:idx val="6"/>
          <c:order val="6"/>
          <c:tx>
            <c:strRef>
              <c:f>Sheet1!$H$1</c:f>
              <c:strCache>
                <c:ptCount val="1"/>
                <c:pt idx="0">
                  <c:v>≥50 years</c:v>
                </c:pt>
              </c:strCache>
            </c:strRef>
          </c:tx>
          <c:spPr>
            <a:solidFill>
              <a:srgbClr val="5D2B76"/>
            </a:solidFill>
            <a:ln>
              <a:solidFill>
                <a:srgbClr val="5D2B76"/>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4"/>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numRef>
              <c:f>Sheet1!$A$2:$A$6</c:f>
              <c:numCache>
                <c:formatCode>General</c:formatCode>
                <c:ptCount val="5"/>
                <c:pt idx="0">
                  <c:v>2020</c:v>
                </c:pt>
                <c:pt idx="1">
                  <c:v>2021</c:v>
                </c:pt>
                <c:pt idx="2">
                  <c:v>2022</c:v>
                </c:pt>
                <c:pt idx="3">
                  <c:v>2023</c:v>
                </c:pt>
                <c:pt idx="4">
                  <c:v>2024</c:v>
                </c:pt>
              </c:numCache>
            </c:numRef>
          </c:cat>
          <c:val>
            <c:numRef>
              <c:f>Sheet1!$H$2:$H$6</c:f>
              <c:numCache>
                <c:ptCount val="5"/>
                <c:pt idx="0">
                  <c:v>0</c:v>
                </c:pt>
                <c:pt idx="1">
                  <c:v>0</c:v>
                </c:pt>
                <c:pt idx="2">
                  <c:v>0</c:v>
                </c:pt>
                <c:pt idx="3">
                  <c:v>0</c:v>
                </c:pt>
                <c:pt idx="4">
                  <c:v>4</c:v>
                </c:pt>
              </c:numCache>
            </c:numRef>
          </c:val>
        </c:ser>
        <c:dLbls>
          <c:showLegendKey val="0"/>
          <c:showVal val="0"/>
          <c:showCatName val="0"/>
          <c:showSerName val="0"/>
          <c:showPercent val="0"/>
          <c:showBubbleSize val="0"/>
          <c:showLeaderLines val="0"/>
        </c:dLbls>
        <c:gapWidth val="80"/>
        <c:overlap val="10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measles cases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13.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2024</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Sheet1!$A$2:$A$5</c:f>
              <c:strCache>
                <c:ptCount val="4"/>
                <c:pt idx="0">
                  <c:v>Under 5 years</c:v>
                </c:pt>
                <c:pt idx="1">
                  <c:v>5-19 years</c:v>
                </c:pt>
                <c:pt idx="2">
                  <c:v>20+ years</c:v>
                </c:pt>
                <c:pt idx="3">
                  <c:v>Age unknown</c:v>
                </c:pt>
              </c:strCache>
            </c:strRef>
          </c:cat>
          <c:val>
            <c:numRef>
              <c:f>Sheet1!$B$2:$B$4</c:f>
              <c:numCache>
                <c:ptCount val="3"/>
                <c:pt idx="0">
                  <c:v>120</c:v>
                </c:pt>
                <c:pt idx="1">
                  <c:v>88</c:v>
                </c:pt>
                <c:pt idx="2">
                  <c:v>77</c:v>
                </c:pt>
              </c:numCache>
            </c:numRef>
          </c:val>
        </c:ser>
        <c:ser>
          <c:idx val="1"/>
          <c:order val="1"/>
          <c:tx>
            <c:strRef>
              <c:f>Sheet1!$C$1</c:f>
              <c:strCache>
                <c:ptCount val="1"/>
                <c:pt idx="0">
                  <c:v>2025*</c:v>
                </c:pt>
              </c:strCache>
            </c:strRef>
          </c:tx>
          <c:spPr>
            <a:solidFill>
              <a:srgbClr val="0F283E"/>
            </a:solidFill>
            <a:ln>
              <a:solidFill>
                <a:srgbClr val="0F283E"/>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Sheet1!$A$2:$A$5</c:f>
              <c:strCache>
                <c:ptCount val="4"/>
                <c:pt idx="0">
                  <c:v>Under 5 years</c:v>
                </c:pt>
                <c:pt idx="1">
                  <c:v>5-19 years</c:v>
                </c:pt>
                <c:pt idx="2">
                  <c:v>20+ years</c:v>
                </c:pt>
                <c:pt idx="3">
                  <c:v>Age unknown</c:v>
                </c:pt>
              </c:strCache>
            </c:strRef>
          </c:cat>
          <c:val>
            <c:numRef>
              <c:f>Sheet1!$C$2:$C$5</c:f>
              <c:numCache>
                <c:ptCount val="4"/>
                <c:pt idx="0">
                  <c:v>196</c:v>
                </c:pt>
                <c:pt idx="1">
                  <c:v>240</c:v>
                </c:pt>
                <c:pt idx="2">
                  <c:v>159</c:v>
                </c:pt>
                <c:pt idx="3">
                  <c:v>12</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cases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14.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stacked"/>
        <c:varyColors val="0"/>
        <c:ser>
          <c:idx val="0"/>
          <c:order val="0"/>
          <c:tx>
            <c:strRef>
              <c:f>Sheet1!$B$1</c:f>
              <c:strCache>
                <c:ptCount val="1"/>
                <c:pt idx="0">
                  <c:v>Unvaccinated</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4"/>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numRef>
              <c:f>Sheet1!$A$2:$A$6</c:f>
              <c:numCache>
                <c:formatCode>General</c:formatCode>
                <c:ptCount val="5"/>
                <c:pt idx="0">
                  <c:v>2020</c:v>
                </c:pt>
                <c:pt idx="1">
                  <c:v>2021</c:v>
                </c:pt>
                <c:pt idx="2">
                  <c:v>2022</c:v>
                </c:pt>
                <c:pt idx="3">
                  <c:v>2023</c:v>
                </c:pt>
                <c:pt idx="4">
                  <c:v>2024</c:v>
                </c:pt>
              </c:numCache>
            </c:numRef>
          </c:cat>
          <c:val>
            <c:numRef>
              <c:f>Sheet1!$B$2:$B$6</c:f>
              <c:numCache>
                <c:ptCount val="5"/>
                <c:pt idx="0">
                  <c:v>5</c:v>
                </c:pt>
                <c:pt idx="1">
                  <c:v>8</c:v>
                </c:pt>
                <c:pt idx="2">
                  <c:v>118</c:v>
                </c:pt>
                <c:pt idx="3">
                  <c:v>42</c:v>
                </c:pt>
                <c:pt idx="4">
                  <c:v>57</c:v>
                </c:pt>
              </c:numCache>
            </c:numRef>
          </c:val>
        </c:ser>
        <c:ser>
          <c:idx val="1"/>
          <c:order val="1"/>
          <c:tx>
            <c:strRef>
              <c:f>Sheet1!$C$1</c:f>
              <c:strCache>
                <c:ptCount val="1"/>
                <c:pt idx="0">
                  <c:v>Unknown</c:v>
                </c:pt>
              </c:strCache>
            </c:strRef>
          </c:tx>
          <c:spPr>
            <a:solidFill>
              <a:srgbClr val="0F283E"/>
            </a:solidFill>
            <a:ln>
              <a:solidFill>
                <a:srgbClr val="0F283E"/>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4"/>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numRef>
              <c:f>Sheet1!$A$2:$A$6</c:f>
              <c:numCache>
                <c:formatCode>General</c:formatCode>
                <c:ptCount val="5"/>
                <c:pt idx="0">
                  <c:v>2020</c:v>
                </c:pt>
                <c:pt idx="1">
                  <c:v>2021</c:v>
                </c:pt>
                <c:pt idx="2">
                  <c:v>2022</c:v>
                </c:pt>
                <c:pt idx="3">
                  <c:v>2023</c:v>
                </c:pt>
                <c:pt idx="4">
                  <c:v>2024</c:v>
                </c:pt>
              </c:numCache>
            </c:numRef>
          </c:cat>
          <c:val>
            <c:numRef>
              <c:f>Sheet1!$C$2:$C$6</c:f>
              <c:numCache>
                <c:ptCount val="5"/>
                <c:pt idx="0">
                  <c:v>5</c:v>
                </c:pt>
                <c:pt idx="1">
                  <c:v>40</c:v>
                </c:pt>
                <c:pt idx="2">
                  <c:v>1</c:v>
                </c:pt>
                <c:pt idx="3">
                  <c:v>10</c:v>
                </c:pt>
                <c:pt idx="4">
                  <c:v>23</c:v>
                </c:pt>
              </c:numCache>
            </c:numRef>
          </c:val>
        </c:ser>
        <c:ser>
          <c:idx val="2"/>
          <c:order val="2"/>
          <c:tx>
            <c:strRef>
              <c:f>Sheet1!$D$1</c:f>
              <c:strCache>
                <c:ptCount val="1"/>
                <c:pt idx="0">
                  <c:v>Vaccinated, 1 dose</c:v>
                </c:pt>
              </c:strCache>
            </c:strRef>
          </c:tx>
          <c:spPr>
            <a:solidFill>
              <a:srgbClr val="BABABA"/>
            </a:solidFill>
            <a:ln>
              <a:solidFill>
                <a:srgbClr val="BABABA"/>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4"/>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numRef>
              <c:f>Sheet1!$A$2:$A$6</c:f>
              <c:numCache>
                <c:formatCode>General</c:formatCode>
                <c:ptCount val="5"/>
                <c:pt idx="0">
                  <c:v>2020</c:v>
                </c:pt>
                <c:pt idx="1">
                  <c:v>2021</c:v>
                </c:pt>
                <c:pt idx="2">
                  <c:v>2022</c:v>
                </c:pt>
                <c:pt idx="3">
                  <c:v>2023</c:v>
                </c:pt>
                <c:pt idx="4">
                  <c:v>2024</c:v>
                </c:pt>
              </c:numCache>
            </c:numRef>
          </c:cat>
          <c:val>
            <c:numRef>
              <c:f>Sheet1!$D$2:$D$6</c:f>
              <c:numCache>
                <c:ptCount val="5"/>
                <c:pt idx="0">
                  <c:v>0</c:v>
                </c:pt>
                <c:pt idx="1">
                  <c:v>0</c:v>
                </c:pt>
                <c:pt idx="2">
                  <c:v>1</c:v>
                </c:pt>
                <c:pt idx="3">
                  <c:v>4</c:v>
                </c:pt>
                <c:pt idx="4">
                  <c:v>12</c:v>
                </c:pt>
              </c:numCache>
            </c:numRef>
          </c:val>
        </c:ser>
        <c:ser>
          <c:idx val="3"/>
          <c:order val="3"/>
          <c:tx>
            <c:strRef>
              <c:f>Sheet1!$E$1</c:f>
              <c:strCache>
                <c:ptCount val="1"/>
                <c:pt idx="0">
                  <c:v>Vaccinated, 2 doses</c:v>
                </c:pt>
              </c:strCache>
            </c:strRef>
          </c:tx>
          <c:spPr>
            <a:solidFill>
              <a:srgbClr val="A60B0B"/>
            </a:solidFill>
            <a:ln>
              <a:solidFill>
                <a:srgbClr val="A60B0B"/>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3"/>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4"/>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numRef>
              <c:f>Sheet1!$A$2:$A$6</c:f>
              <c:numCache>
                <c:formatCode>General</c:formatCode>
                <c:ptCount val="5"/>
                <c:pt idx="0">
                  <c:v>2020</c:v>
                </c:pt>
                <c:pt idx="1">
                  <c:v>2021</c:v>
                </c:pt>
                <c:pt idx="2">
                  <c:v>2022</c:v>
                </c:pt>
                <c:pt idx="3">
                  <c:v>2023</c:v>
                </c:pt>
                <c:pt idx="4">
                  <c:v>2024</c:v>
                </c:pt>
              </c:numCache>
            </c:numRef>
          </c:cat>
          <c:val>
            <c:numRef>
              <c:f>Sheet1!$E$2:$E$6</c:f>
              <c:numCache>
                <c:ptCount val="5"/>
                <c:pt idx="0">
                  <c:v>3</c:v>
                </c:pt>
                <c:pt idx="1">
                  <c:v>1</c:v>
                </c:pt>
                <c:pt idx="2">
                  <c:v>1</c:v>
                </c:pt>
                <c:pt idx="3">
                  <c:v>2</c:v>
                </c:pt>
                <c:pt idx="4">
                  <c:v>5</c:v>
                </c:pt>
              </c:numCache>
            </c:numRef>
          </c:val>
        </c:ser>
        <c:dLbls>
          <c:showLegendKey val="0"/>
          <c:showVal val="0"/>
          <c:showCatName val="0"/>
          <c:showSerName val="0"/>
          <c:showPercent val="0"/>
          <c:showBubbleSize val="0"/>
          <c:showLeaderLines val="0"/>
        </c:dLbls>
        <c:gapWidth val="80"/>
        <c:overlap val="10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Number of measles cases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15.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2024</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Sheet1!$A$2:$A$4</c:f>
              <c:strCache>
                <c:ptCount val="3"/>
                <c:pt idx="0">
                  <c:v>Unvaccinated or Unknown</c:v>
                </c:pt>
                <c:pt idx="1">
                  <c:v>One MMR dose</c:v>
                </c:pt>
                <c:pt idx="2">
                  <c:v>Two MMR doses</c:v>
                </c:pt>
              </c:strCache>
            </c:strRef>
          </c:cat>
          <c:val>
            <c:numRef>
              <c:f>Sheet1!$B$2:$B$4</c:f>
              <c:numCache>
                <c:ptCount val="3"/>
                <c:pt idx="0">
                  <c:v>0.89</c:v>
                </c:pt>
                <c:pt idx="1">
                  <c:v>0.07</c:v>
                </c:pt>
                <c:pt idx="2">
                  <c:v>0.04</c:v>
                </c:pt>
              </c:numCache>
            </c:numRef>
          </c:val>
        </c:ser>
        <c:ser>
          <c:idx val="1"/>
          <c:order val="1"/>
          <c:tx>
            <c:strRef>
              <c:f>Sheet1!$C$1</c:f>
              <c:strCache>
                <c:ptCount val="1"/>
                <c:pt idx="0">
                  <c:v>2025*</c:v>
                </c:pt>
              </c:strCache>
            </c:strRef>
          </c:tx>
          <c:spPr>
            <a:solidFill>
              <a:srgbClr val="0F283E"/>
            </a:solidFill>
            <a:ln>
              <a:solidFill>
                <a:srgbClr val="0F283E"/>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Sheet1!$A$2:$A$4</c:f>
              <c:strCache>
                <c:ptCount val="3"/>
                <c:pt idx="0">
                  <c:v>Unvaccinated or Unknown</c:v>
                </c:pt>
                <c:pt idx="1">
                  <c:v>One MMR dose</c:v>
                </c:pt>
                <c:pt idx="2">
                  <c:v>Two MMR doses</c:v>
                </c:pt>
              </c:strCache>
            </c:strRef>
          </c:cat>
          <c:val>
            <c:numRef>
              <c:f>Sheet1!$C$2:$C$4</c:f>
              <c:numCache>
                <c:ptCount val="3"/>
                <c:pt idx="0">
                  <c:v>0.97</c:v>
                </c:pt>
                <c:pt idx="1">
                  <c:v>0.01</c:v>
                </c:pt>
                <c:pt idx="2">
                  <c:v>0.02</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Distribution of cases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16.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Cases</c:v>
                </c:pt>
              </c:strCache>
            </c:strRef>
          </c:tx>
          <c:spPr>
            <a:solidFill>
              <a:srgbClr val="2875DD"/>
            </a:solidFill>
            <a:ln>
              <a:solidFill>
                <a:srgbClr val="2875DD"/>
              </a:solidFill>
            </a:ln>
          </c:spPr>
          <c:invertIfNegative val="0"/>
          <c:dLbls>
            <c:dLbl>
              <c:idx val="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Minnesota</c:v>
                </c:pt>
                <c:pt idx="1">
                  <c:v>Illinois</c:v>
                </c:pt>
                <c:pt idx="2">
                  <c:v>Oregon</c:v>
                </c:pt>
                <c:pt idx="3">
                  <c:v>California</c:v>
                </c:pt>
                <c:pt idx="4">
                  <c:v>New York City</c:v>
                </c:pt>
                <c:pt idx="5">
                  <c:v>Florida</c:v>
                </c:pt>
                <c:pt idx="6">
                  <c:v>Michigan</c:v>
                </c:pt>
                <c:pt idx="7">
                  <c:v>New Jersey</c:v>
                </c:pt>
                <c:pt idx="8">
                  <c:v>Ohio</c:v>
                </c:pt>
                <c:pt idx="9">
                  <c:v>Washington</c:v>
                </c:pt>
                <c:pt idx="10">
                  <c:v>Arizona</c:v>
                </c:pt>
                <c:pt idx="11">
                  <c:v>Georgia</c:v>
                </c:pt>
                <c:pt idx="12">
                  <c:v>Pennsylvania</c:v>
                </c:pt>
                <c:pt idx="13">
                  <c:v>Tennessee</c:v>
                </c:pt>
                <c:pt idx="14">
                  <c:v>Louisiana</c:v>
                </c:pt>
              </c:strCache>
            </c:strRef>
          </c:cat>
          <c:val>
            <c:numRef>
              <c:f>Sheet1!$B$2:$B$16</c:f>
              <c:numCache>
                <c:ptCount val="15"/>
                <c:pt idx="0">
                  <c:v>69</c:v>
                </c:pt>
                <c:pt idx="1">
                  <c:v>67</c:v>
                </c:pt>
                <c:pt idx="2">
                  <c:v>31</c:v>
                </c:pt>
                <c:pt idx="3">
                  <c:v>15</c:v>
                </c:pt>
                <c:pt idx="4">
                  <c:v>14</c:v>
                </c:pt>
                <c:pt idx="5">
                  <c:v>13</c:v>
                </c:pt>
                <c:pt idx="6">
                  <c:v>7</c:v>
                </c:pt>
                <c:pt idx="7">
                  <c:v>7</c:v>
                </c:pt>
                <c:pt idx="8">
                  <c:v>7</c:v>
                </c:pt>
                <c:pt idx="9">
                  <c:v>7</c:v>
                </c:pt>
                <c:pt idx="10">
                  <c:v>6</c:v>
                </c:pt>
                <c:pt idx="11">
                  <c:v>6</c:v>
                </c:pt>
                <c:pt idx="12">
                  <c:v>6</c:v>
                </c:pt>
                <c:pt idx="13">
                  <c:v>4</c:v>
                </c:pt>
                <c:pt idx="14">
                  <c:v>3</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7.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Cases</c:v>
                </c:pt>
              </c:strCache>
            </c:strRef>
          </c:tx>
          <c:spPr>
            <a:solidFill>
              <a:srgbClr val="2875DD"/>
            </a:solidFill>
            <a:ln>
              <a:solidFill>
                <a:srgbClr val="2875DD"/>
              </a:solidFill>
            </a:ln>
          </c:spPr>
          <c:invertIfNegative val="0"/>
          <c:dLbls>
            <c:dLbl>
              <c:idx val="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7"/>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8"/>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9"/>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0"/>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1"/>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2"/>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3"/>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dLbl>
              <c:idx val="14"/>
              <c:numFmt formatCode="#,##0" sourceLinked="0"/>
              <c:txPr>
                <a:bodyPr/>
                <a:p>
                  <a:pPr>
                    <a:defRPr sz="900" b="0" smtId="4294967295">
                      <a:solidFill>
                        <a:srgbClr val="0F2741"/>
                      </a:solidFill>
                      <a:latin typeface="Open Sans"/>
                    </a:defRPr>
                  </a:pPr>
                  <a:endParaRPr sz="9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900" b="0" smtId="4294967295">
                    <a:solidFill>
                      <a:srgbClr val="0F2741"/>
                    </a:solidFill>
                    <a:latin typeface="Open Sans"/>
                  </a:defRPr>
                </a:pPr>
                <a:endParaRPr sz="900" b="0" smtId="4294967295">
                  <a:solidFill>
                    <a:srgbClr val="0F2741"/>
                  </a:solidFill>
                  <a:latin typeface="Open Sans"/>
                </a:endParaRPr>
              </a:p>
            </c:txPr>
            <c:showLegendKey val="0"/>
            <c:showVal val="1"/>
            <c:showCatName val="0"/>
            <c:showSerName val="0"/>
            <c:showPercent val="0"/>
            <c:showBubbleSize val="0"/>
            <c:showLeaderLines val="0"/>
            <c:extLst/>
          </c:dLbls>
          <c:cat>
            <c:strRef>
              <c:f>Sheet1!$A$2:$A$16</c:f>
              <c:strCache>
                <c:ptCount val="15"/>
                <c:pt idx="0">
                  <c:v>Texas</c:v>
                </c:pt>
                <c:pt idx="1">
                  <c:v>New Mexico</c:v>
                </c:pt>
                <c:pt idx="2">
                  <c:v>Kansas</c:v>
                </c:pt>
                <c:pt idx="3">
                  <c:v>California</c:v>
                </c:pt>
                <c:pt idx="4">
                  <c:v>Oklahoma</c:v>
                </c:pt>
                <c:pt idx="5">
                  <c:v>Ohio</c:v>
                </c:pt>
                <c:pt idx="6">
                  <c:v>Pennsylvania</c:v>
                </c:pt>
                <c:pt idx="7">
                  <c:v>Tennessee</c:v>
                </c:pt>
                <c:pt idx="8">
                  <c:v>Georgia</c:v>
                </c:pt>
                <c:pt idx="9">
                  <c:v>Maryland</c:v>
                </c:pt>
                <c:pt idx="10">
                  <c:v>New Jersey</c:v>
                </c:pt>
                <c:pt idx="11">
                  <c:v>New York City</c:v>
                </c:pt>
                <c:pt idx="12">
                  <c:v>Washington</c:v>
                </c:pt>
                <c:pt idx="13">
                  <c:v>Alaska</c:v>
                </c:pt>
                <c:pt idx="14">
                  <c:v>Kentucky</c:v>
                </c:pt>
              </c:strCache>
            </c:strRef>
          </c:cat>
          <c:val>
            <c:numRef>
              <c:f>Sheet1!$B$2:$B$16</c:f>
              <c:numCache>
                <c:ptCount val="15"/>
                <c:pt idx="0">
                  <c:v>475</c:v>
                </c:pt>
                <c:pt idx="1">
                  <c:v>48</c:v>
                </c:pt>
                <c:pt idx="2">
                  <c:v>24</c:v>
                </c:pt>
                <c:pt idx="3">
                  <c:v>8</c:v>
                </c:pt>
                <c:pt idx="4">
                  <c:v>8</c:v>
                </c:pt>
                <c:pt idx="5">
                  <c:v>7</c:v>
                </c:pt>
                <c:pt idx="6">
                  <c:v>6</c:v>
                </c:pt>
                <c:pt idx="7">
                  <c:v>4</c:v>
                </c:pt>
                <c:pt idx="8">
                  <c:v>3</c:v>
                </c:pt>
                <c:pt idx="9">
                  <c:v>3</c:v>
                </c:pt>
                <c:pt idx="10">
                  <c:v>3</c:v>
                </c:pt>
                <c:pt idx="11">
                  <c:v>3</c:v>
                </c:pt>
                <c:pt idx="12">
                  <c:v>3</c:v>
                </c:pt>
                <c:pt idx="13">
                  <c:v>2</c:v>
                </c:pt>
                <c:pt idx="14">
                  <c:v>2</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8.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Two MMR doses</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Sheet1!$A$2:$A$3</c:f>
              <c:strCache>
                <c:ptCount val="2"/>
                <c:pt idx="0">
                  <c:v>2024</c:v>
                </c:pt>
                <c:pt idx="1">
                  <c:v>2025*</c:v>
                </c:pt>
              </c:strCache>
            </c:strRef>
          </c:cat>
          <c:val>
            <c:numRef>
              <c:f>Sheet1!$B$2:$B$3</c:f>
              <c:numCache>
                <c:ptCount val="2"/>
                <c:pt idx="0">
                  <c:v>0.4</c:v>
                </c:pt>
                <c:pt idx="1">
                  <c:v>0.12</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Percentage of cases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19.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2024</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Sheet1!$A$2:$A$5</c:f>
              <c:strCache>
                <c:ptCount val="4"/>
                <c:pt idx="0">
                  <c:v>Under 5 years</c:v>
                </c:pt>
                <c:pt idx="1">
                  <c:v>5-19 years</c:v>
                </c:pt>
                <c:pt idx="2">
                  <c:v>20+ years</c:v>
                </c:pt>
                <c:pt idx="3">
                  <c:v>Age unknown</c:v>
                </c:pt>
              </c:strCache>
            </c:strRef>
          </c:cat>
          <c:val>
            <c:numRef>
              <c:f>Sheet1!$B$2:$B$4</c:f>
              <c:numCache>
                <c:ptCount val="3"/>
                <c:pt idx="0">
                  <c:v>0.52</c:v>
                </c:pt>
                <c:pt idx="1">
                  <c:v>0.25</c:v>
                </c:pt>
                <c:pt idx="2">
                  <c:v>0.39</c:v>
                </c:pt>
              </c:numCache>
            </c:numRef>
          </c:val>
        </c:ser>
        <c:ser>
          <c:idx val="1"/>
          <c:order val="1"/>
          <c:tx>
            <c:strRef>
              <c:f>Sheet1!$C$1</c:f>
              <c:strCache>
                <c:ptCount val="1"/>
                <c:pt idx="0">
                  <c:v>2025*</c:v>
                </c:pt>
              </c:strCache>
            </c:strRef>
          </c:tx>
          <c:spPr>
            <a:solidFill>
              <a:srgbClr val="0F283E"/>
            </a:solidFill>
            <a:ln>
              <a:solidFill>
                <a:srgbClr val="0F283E"/>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Sheet1!$A$2:$A$5</c:f>
              <c:strCache>
                <c:ptCount val="4"/>
                <c:pt idx="0">
                  <c:v>Under 5 years</c:v>
                </c:pt>
                <c:pt idx="1">
                  <c:v>5-19 years</c:v>
                </c:pt>
                <c:pt idx="2">
                  <c:v>20+ years</c:v>
                </c:pt>
                <c:pt idx="3">
                  <c:v>Age unknown</c:v>
                </c:pt>
              </c:strCache>
            </c:strRef>
          </c:cat>
          <c:val>
            <c:numRef>
              <c:f>Sheet1!$C$2:$C$5</c:f>
              <c:numCache>
                <c:ptCount val="4"/>
                <c:pt idx="0">
                  <c:v>0.21</c:v>
                </c:pt>
                <c:pt idx="1">
                  <c:v>0.08</c:v>
                </c:pt>
                <c:pt idx="2">
                  <c:v>0.08</c:v>
                </c:pt>
                <c:pt idx="3">
                  <c:v>0.08</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Percentage of cases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20.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5"/>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6"/>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Sheet1!$A$2:$A$8</c:f>
              <c:strCache>
                <c:ptCount val="7"/>
                <c:pt idx="0">
                  <c:v>2013-2014</c:v>
                </c:pt>
                <c:pt idx="1">
                  <c:v>2014-2015</c:v>
                </c:pt>
                <c:pt idx="2">
                  <c:v>2015-2016</c:v>
                </c:pt>
                <c:pt idx="3">
                  <c:v>2016-2017</c:v>
                </c:pt>
                <c:pt idx="4">
                  <c:v>2017-2018</c:v>
                </c:pt>
                <c:pt idx="5">
                  <c:v>2018-2019</c:v>
                </c:pt>
                <c:pt idx="6">
                  <c:v>2019-2020</c:v>
                </c:pt>
              </c:strCache>
            </c:strRef>
          </c:cat>
          <c:val>
            <c:numRef>
              <c:f>Sheet1!$B$2:$B$8</c:f>
              <c:numCache>
                <c:ptCount val="7"/>
                <c:pt idx="0">
                  <c:v>0.9</c:v>
                </c:pt>
                <c:pt idx="1">
                  <c:v>0.903</c:v>
                </c:pt>
                <c:pt idx="2">
                  <c:v>0.908</c:v>
                </c:pt>
                <c:pt idx="3">
                  <c:v>0.906</c:v>
                </c:pt>
                <c:pt idx="4">
                  <c:v>0.913</c:v>
                </c:pt>
                <c:pt idx="5">
                  <c:v>0.916</c:v>
                </c:pt>
                <c:pt idx="6">
                  <c:v>0.916</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title>
          <c:tx>
            <c:rich>
              <a:bodyPr/>
              <a:lstStyle/>
              <a:p>
                <a:pPr>
                  <a:defRPr/>
                </a:pPr>
                <a:r>
                  <a:rPr sz="1100" b="0">
                    <a:solidFill>
                      <a:srgbClr val="0F2741"/>
                    </a:solidFill>
                    <a:latin typeface="Open Sans"/>
                  </a:rPr>
                  <a:t>Birth years</a:t>
                </a:r>
              </a:p>
            </c:rich>
          </c:tx>
          <c:overlay val="0"/>
        </c:title>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Immunization rate</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1.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2022</c:v>
                </c:pt>
              </c:strCache>
            </c:strRef>
          </c:tx>
          <c:spPr>
            <a:solidFill>
              <a:srgbClr val="2875DD"/>
            </a:solidFill>
            <a:ln>
              <a:solidFill>
                <a:srgbClr val="2875DD"/>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Sheet1!$A$2:$A$6</c:f>
              <c:strCache>
                <c:ptCount val="5"/>
                <c:pt idx="0">
                  <c:v>MenACWY** (one or more doses)</c:v>
                </c:pt>
                <c:pt idx="1">
                  <c:v>Tdap* (one or more doses)</c:v>
                </c:pt>
                <c:pt idx="2">
                  <c:v>Hepatitis B Vaccine (three or more doses)</c:v>
                </c:pt>
                <c:pt idx="3">
                  <c:v>Measles, Mumps and Rubella (MMR) (two or more doses)</c:v>
                </c:pt>
                <c:pt idx="4">
                  <c:v>Varicella (without history of the disease) (one or more doses)</c:v>
                </c:pt>
              </c:strCache>
            </c:strRef>
          </c:cat>
          <c:val>
            <c:numRef>
              <c:f>Sheet1!$B$2:$B$6</c:f>
              <c:numCache>
                <c:ptCount val="5"/>
                <c:pt idx="0">
                  <c:v>0.886</c:v>
                </c:pt>
                <c:pt idx="1">
                  <c:v>0.899</c:v>
                </c:pt>
                <c:pt idx="2">
                  <c:v>0.912</c:v>
                </c:pt>
                <c:pt idx="3">
                  <c:v>0.912</c:v>
                </c:pt>
                <c:pt idx="4">
                  <c:v>0.941</c:v>
                </c:pt>
              </c:numCache>
            </c:numRef>
          </c:val>
        </c:ser>
        <c:ser>
          <c:idx val="1"/>
          <c:order val="1"/>
          <c:tx>
            <c:strRef>
              <c:f>Sheet1!$C$1</c:f>
              <c:strCache>
                <c:ptCount val="1"/>
                <c:pt idx="0">
                  <c:v>2023</c:v>
                </c:pt>
              </c:strCache>
            </c:strRef>
          </c:tx>
          <c:spPr>
            <a:solidFill>
              <a:srgbClr val="0F283E"/>
            </a:solidFill>
            <a:ln>
              <a:solidFill>
                <a:srgbClr val="0F283E"/>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4"/>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Sheet1!$A$2:$A$6</c:f>
              <c:strCache>
                <c:ptCount val="5"/>
                <c:pt idx="0">
                  <c:v>MenACWY** (one or more doses)</c:v>
                </c:pt>
                <c:pt idx="1">
                  <c:v>Tdap* (one or more doses)</c:v>
                </c:pt>
                <c:pt idx="2">
                  <c:v>Hepatitis B Vaccine (three or more doses)</c:v>
                </c:pt>
                <c:pt idx="3">
                  <c:v>Measles, Mumps and Rubella (MMR) (two or more doses)</c:v>
                </c:pt>
                <c:pt idx="4">
                  <c:v>Varicella (without history of the disease) (one or more doses)</c:v>
                </c:pt>
              </c:strCache>
            </c:strRef>
          </c:cat>
          <c:val>
            <c:numRef>
              <c:f>Sheet1!$C$2:$C$6</c:f>
              <c:numCache>
                <c:ptCount val="5"/>
                <c:pt idx="0">
                  <c:v>0.884</c:v>
                </c:pt>
                <c:pt idx="1">
                  <c:v>0.89</c:v>
                </c:pt>
                <c:pt idx="2">
                  <c:v>0.909</c:v>
                </c:pt>
                <c:pt idx="3">
                  <c:v>0.913</c:v>
                </c:pt>
                <c:pt idx="4">
                  <c:v>0.946</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Percentage of adolescents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22.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bar"/>
        <c:grouping val="clustered"/>
        <c:varyColors val="0"/>
        <c:ser>
          <c:idx val="0"/>
          <c:order val="0"/>
          <c:tx>
            <c:strRef>
              <c:f>Sheet1!$B$1</c:f>
              <c:strCache>
                <c:ptCount val="1"/>
                <c:pt idx="0">
                  <c:v>17 years</c:v>
                </c:pt>
              </c:strCache>
            </c:strRef>
          </c:tx>
          <c:spPr>
            <a:solidFill>
              <a:srgbClr val="87BC24"/>
            </a:solidFill>
            <a:ln>
              <a:solidFill>
                <a:srgbClr val="87BC24"/>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Sheet1!$A$2:$A$5</c:f>
              <c:strCache>
                <c:ptCount val="4"/>
                <c:pt idx="0">
                  <c:v>MenACWY*</c:v>
                </c:pt>
                <c:pt idx="1">
                  <c:v>MMR**</c:v>
                </c:pt>
                <c:pt idx="2">
                  <c:v>Hepatitis B***</c:v>
                </c:pt>
                <c:pt idx="3">
                  <c:v>Varicella****</c:v>
                </c:pt>
              </c:strCache>
            </c:strRef>
          </c:cat>
          <c:val>
            <c:numRef>
              <c:f>Sheet1!$B$2:$B$5</c:f>
              <c:numCache>
                <c:ptCount val="4"/>
                <c:pt idx="0">
                  <c:v>0.912</c:v>
                </c:pt>
                <c:pt idx="1">
                  <c:v>0.907</c:v>
                </c:pt>
                <c:pt idx="2">
                  <c:v>0.91</c:v>
                </c:pt>
                <c:pt idx="3">
                  <c:v>0.896</c:v>
                </c:pt>
              </c:numCache>
            </c:numRef>
          </c:val>
        </c:ser>
        <c:ser>
          <c:idx val="1"/>
          <c:order val="1"/>
          <c:tx>
            <c:strRef>
              <c:f>Sheet1!$C$1</c:f>
              <c:strCache>
                <c:ptCount val="1"/>
                <c:pt idx="0">
                  <c:v>16 years</c:v>
                </c:pt>
              </c:strCache>
            </c:strRef>
          </c:tx>
          <c:spPr>
            <a:solidFill>
              <a:srgbClr val="A60B0B"/>
            </a:solidFill>
            <a:ln>
              <a:solidFill>
                <a:srgbClr val="A60B0B"/>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Sheet1!$A$2:$A$5</c:f>
              <c:strCache>
                <c:ptCount val="4"/>
                <c:pt idx="0">
                  <c:v>MenACWY*</c:v>
                </c:pt>
                <c:pt idx="1">
                  <c:v>MMR**</c:v>
                </c:pt>
                <c:pt idx="2">
                  <c:v>Hepatitis B***</c:v>
                </c:pt>
                <c:pt idx="3">
                  <c:v>Varicella****</c:v>
                </c:pt>
              </c:strCache>
            </c:strRef>
          </c:cat>
          <c:val>
            <c:numRef>
              <c:f>Sheet1!$C$2:$C$5</c:f>
              <c:numCache>
                <c:ptCount val="4"/>
                <c:pt idx="0">
                  <c:v>0.903</c:v>
                </c:pt>
                <c:pt idx="1">
                  <c:v>0.906</c:v>
                </c:pt>
                <c:pt idx="2">
                  <c:v>0.898</c:v>
                </c:pt>
                <c:pt idx="3">
                  <c:v>0.899</c:v>
                </c:pt>
              </c:numCache>
            </c:numRef>
          </c:val>
        </c:ser>
        <c:ser>
          <c:idx val="2"/>
          <c:order val="2"/>
          <c:tx>
            <c:strRef>
              <c:f>Sheet1!$D$1</c:f>
              <c:strCache>
                <c:ptCount val="1"/>
                <c:pt idx="0">
                  <c:v>15 years</c:v>
                </c:pt>
              </c:strCache>
            </c:strRef>
          </c:tx>
          <c:spPr>
            <a:solidFill>
              <a:srgbClr val="BABABA"/>
            </a:solidFill>
            <a:ln>
              <a:solidFill>
                <a:srgbClr val="BABABA"/>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Sheet1!$A$2:$A$5</c:f>
              <c:strCache>
                <c:ptCount val="4"/>
                <c:pt idx="0">
                  <c:v>MenACWY*</c:v>
                </c:pt>
                <c:pt idx="1">
                  <c:v>MMR**</c:v>
                </c:pt>
                <c:pt idx="2">
                  <c:v>Hepatitis B***</c:v>
                </c:pt>
                <c:pt idx="3">
                  <c:v>Varicella****</c:v>
                </c:pt>
              </c:strCache>
            </c:strRef>
          </c:cat>
          <c:val>
            <c:numRef>
              <c:f>Sheet1!$D$2:$D$5</c:f>
              <c:numCache>
                <c:ptCount val="4"/>
                <c:pt idx="0">
                  <c:v>0.894</c:v>
                </c:pt>
                <c:pt idx="1">
                  <c:v>0.915</c:v>
                </c:pt>
                <c:pt idx="2">
                  <c:v>0.906</c:v>
                </c:pt>
                <c:pt idx="3">
                  <c:v>0.917</c:v>
                </c:pt>
              </c:numCache>
            </c:numRef>
          </c:val>
        </c:ser>
        <c:ser>
          <c:idx val="3"/>
          <c:order val="3"/>
          <c:tx>
            <c:strRef>
              <c:f>Sheet1!$E$1</c:f>
              <c:strCache>
                <c:ptCount val="1"/>
                <c:pt idx="0">
                  <c:v>14 years</c:v>
                </c:pt>
              </c:strCache>
            </c:strRef>
          </c:tx>
          <c:spPr>
            <a:solidFill>
              <a:srgbClr val="0F283E"/>
            </a:solidFill>
            <a:ln>
              <a:solidFill>
                <a:srgbClr val="0F283E"/>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Sheet1!$A$2:$A$5</c:f>
              <c:strCache>
                <c:ptCount val="4"/>
                <c:pt idx="0">
                  <c:v>MenACWY*</c:v>
                </c:pt>
                <c:pt idx="1">
                  <c:v>MMR**</c:v>
                </c:pt>
                <c:pt idx="2">
                  <c:v>Hepatitis B***</c:v>
                </c:pt>
                <c:pt idx="3">
                  <c:v>Varicella****</c:v>
                </c:pt>
              </c:strCache>
            </c:strRef>
          </c:cat>
          <c:val>
            <c:numRef>
              <c:f>Sheet1!$E$2:$E$5</c:f>
              <c:numCache>
                <c:ptCount val="4"/>
                <c:pt idx="0">
                  <c:v>0.86</c:v>
                </c:pt>
                <c:pt idx="1">
                  <c:v>0.905</c:v>
                </c:pt>
                <c:pt idx="2">
                  <c:v>0.899</c:v>
                </c:pt>
                <c:pt idx="3">
                  <c:v>0.897</c:v>
                </c:pt>
              </c:numCache>
            </c:numRef>
          </c:val>
        </c:ser>
        <c:ser>
          <c:idx val="4"/>
          <c:order val="4"/>
          <c:tx>
            <c:strRef>
              <c:f>Sheet1!$F$1</c:f>
              <c:strCache>
                <c:ptCount val="1"/>
                <c:pt idx="0">
                  <c:v>13 years</c:v>
                </c:pt>
              </c:strCache>
            </c:strRef>
          </c:tx>
          <c:spPr>
            <a:solidFill>
              <a:srgbClr val="2875DD"/>
            </a:solidFill>
            <a:ln>
              <a:solidFill>
                <a:srgbClr val="2875DD"/>
              </a:solidFill>
            </a:ln>
          </c:spPr>
          <c:invertIfNegative val="0"/>
          <c:dLbls>
            <c:dLbl>
              <c:idx val="0"/>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Sheet1!$A$2:$A$5</c:f>
              <c:strCache>
                <c:ptCount val="4"/>
                <c:pt idx="0">
                  <c:v>MenACWY*</c:v>
                </c:pt>
                <c:pt idx="1">
                  <c:v>MMR**</c:v>
                </c:pt>
                <c:pt idx="2">
                  <c:v>Hepatitis B***</c:v>
                </c:pt>
                <c:pt idx="3">
                  <c:v>Varicella****</c:v>
                </c:pt>
              </c:strCache>
            </c:strRef>
          </c:cat>
          <c:val>
            <c:numRef>
              <c:f>Sheet1!$F$2:$F$5</c:f>
              <c:numCache>
                <c:ptCount val="4"/>
                <c:pt idx="0">
                  <c:v>0.851</c:v>
                </c:pt>
                <c:pt idx="1">
                  <c:v>0.933</c:v>
                </c:pt>
                <c:pt idx="2">
                  <c:v>0.931</c:v>
                </c:pt>
                <c:pt idx="3">
                  <c:v>0.932</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val="maxMin"/>
        </c:scaling>
        <c:delete val="0"/>
        <c:axPos val="t"/>
        <c:majorTickMark val="none"/>
        <c:minorTickMark val="none"/>
        <c:tickLblPos val="low"/>
        <c:spPr>
          <a:ln w="9525">
            <a:solidFill>
              <a:srgbClr val="2F2F2F"/>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b"/>
        <c:majorGridlines>
          <c:spPr>
            <a:ln w="9525">
              <a:solidFill>
                <a:srgbClr val="2F2F2F"/>
              </a:solidFill>
              <a:prstDash val="dot"/>
            </a:ln>
          </c:spPr>
        </c:majorGridlines>
        <c:numFmt formatCode="#,##0%" sourceLinked="0"/>
        <c:majorTickMark val="none"/>
        <c:minorTickMark val="none"/>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23.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stacked"/>
        <c:varyColors val="0"/>
        <c:ser>
          <c:idx val="0"/>
          <c:order val="0"/>
          <c:tx>
            <c:strRef>
              <c:f>Sheet1!$B$1</c:f>
              <c:strCache>
                <c:ptCount val="1"/>
                <c:pt idx="0">
                  <c:v>The benefits outweigh the risks</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strRef>
              <c:f>Sheet1!$A$2:$A$4</c:f>
              <c:strCache>
                <c:ptCount val="3"/>
                <c:pt idx="0">
                  <c:v>June 2016</c:v>
                </c:pt>
                <c:pt idx="1">
                  <c:v>October 2019</c:v>
                </c:pt>
                <c:pt idx="2">
                  <c:v>March 2023</c:v>
                </c:pt>
              </c:strCache>
            </c:strRef>
          </c:cat>
          <c:val>
            <c:numRef>
              <c:f>Sheet1!$B$2:$B$4</c:f>
              <c:numCache>
                <c:ptCount val="3"/>
                <c:pt idx="0">
                  <c:v>0.88</c:v>
                </c:pt>
                <c:pt idx="1">
                  <c:v>0.88</c:v>
                </c:pt>
                <c:pt idx="2">
                  <c:v>0.88</c:v>
                </c:pt>
              </c:numCache>
            </c:numRef>
          </c:val>
        </c:ser>
        <c:ser>
          <c:idx val="1"/>
          <c:order val="1"/>
          <c:tx>
            <c:strRef>
              <c:f>Sheet1!$C$1</c:f>
              <c:strCache>
                <c:ptCount val="1"/>
                <c:pt idx="0">
                  <c:v>The risks outweigh the benefits</c:v>
                </c:pt>
              </c:strCache>
            </c:strRef>
          </c:tx>
          <c:spPr>
            <a:solidFill>
              <a:srgbClr val="0F283E"/>
            </a:solidFill>
            <a:ln>
              <a:solidFill>
                <a:srgbClr val="0F283E"/>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strRef>
              <c:f>Sheet1!$A$2:$A$4</c:f>
              <c:strCache>
                <c:ptCount val="3"/>
                <c:pt idx="0">
                  <c:v>June 2016</c:v>
                </c:pt>
                <c:pt idx="1">
                  <c:v>October 2019</c:v>
                </c:pt>
                <c:pt idx="2">
                  <c:v>March 2023</c:v>
                </c:pt>
              </c:strCache>
            </c:strRef>
          </c:cat>
          <c:val>
            <c:numRef>
              <c:f>Sheet1!$C$2:$C$4</c:f>
              <c:numCache>
                <c:ptCount val="3"/>
                <c:pt idx="0">
                  <c:v>0.1</c:v>
                </c:pt>
                <c:pt idx="1">
                  <c:v>0.1</c:v>
                </c:pt>
                <c:pt idx="2">
                  <c:v>0.1</c:v>
                </c:pt>
              </c:numCache>
            </c:numRef>
          </c:val>
        </c:ser>
        <c:dLbls>
          <c:showLegendKey val="0"/>
          <c:showVal val="0"/>
          <c:showCatName val="0"/>
          <c:showSerName val="0"/>
          <c:showPercent val="0"/>
          <c:showBubbleSize val="0"/>
          <c:showLeaderLines val="0"/>
        </c:dLbls>
        <c:gapWidth val="80"/>
        <c:overlap val="10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Percentage of adults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24.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clustered"/>
        <c:varyColors val="0"/>
        <c:ser>
          <c:idx val="0"/>
          <c:order val="0"/>
          <c:tx>
            <c:strRef>
              <c:f>Sheet1!$B$1</c:f>
              <c:strCache>
                <c:ptCount val="1"/>
                <c:pt idx="0">
                  <c:v>Column1</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1"/>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2"/>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dLbl>
              <c:idx val="3"/>
              <c:numFmt formatCode="#,##0%" sourceLinked="0"/>
              <c:txPr>
                <a:bodyPr/>
                <a:p>
                  <a:pPr>
                    <a:defRPr sz="1100" b="0" smtId="4294967295">
                      <a:solidFill>
                        <a:srgbClr val="0F2741"/>
                      </a:solidFill>
                      <a:latin typeface="Open Sans"/>
                    </a:defRPr>
                  </a:pPr>
                  <a:endParaRPr sz="1100" b="0" smtId="4294967295">
                    <a:solidFill>
                      <a:srgbClr val="0F2741"/>
                    </a:solidFill>
                    <a:latin typeface="Open Sans"/>
                  </a:endParaRPr>
                </a:p>
              </c:txPr>
              <c:dLblPos val="outEnd"/>
              <c:showLegendKey val="0"/>
              <c:showVal val="1"/>
              <c:showCatName val="0"/>
              <c:showSerName val="0"/>
              <c:showPercent val="0"/>
              <c:showBubbleSize val="0"/>
              <c:extLst/>
            </c:dLbl>
            <c:txPr>
              <a:bodyPr/>
              <a:p>
                <a:pPr>
                  <a:defRPr sz="1100" b="0" smtId="4294967295">
                    <a:solidFill>
                      <a:srgbClr val="0F2741"/>
                    </a:solidFill>
                    <a:latin typeface="Open Sans"/>
                  </a:defRPr>
                </a:pPr>
                <a:endParaRPr sz="1100" b="0" smtId="4294967295">
                  <a:solidFill>
                    <a:srgbClr val="0F2741"/>
                  </a:solidFill>
                  <a:latin typeface="Open Sans"/>
                </a:endParaRPr>
              </a:p>
            </c:txPr>
            <c:showLegendKey val="0"/>
            <c:showVal val="1"/>
            <c:showCatName val="0"/>
            <c:showSerName val="0"/>
            <c:showPercent val="0"/>
            <c:showBubbleSize val="0"/>
            <c:showLeaderLines val="0"/>
            <c:extLst/>
          </c:dLbls>
          <c:cat>
            <c:strRef>
              <c:f>Sheet1!$A$2:$A$5</c:f>
              <c:strCache>
                <c:ptCount val="4"/>
                <c:pt idx="0">
                  <c:v>Definitely true</c:v>
                </c:pt>
                <c:pt idx="1">
                  <c:v>Probably true</c:v>
                </c:pt>
                <c:pt idx="2">
                  <c:v>Probably false</c:v>
                </c:pt>
                <c:pt idx="3">
                  <c:v>Definitely false</c:v>
                </c:pt>
              </c:strCache>
            </c:strRef>
          </c:cat>
          <c:val>
            <c:numRef>
              <c:f>Sheet1!$B$2:$B$5</c:f>
              <c:numCache>
                <c:ptCount val="4"/>
                <c:pt idx="0">
                  <c:v>0.03</c:v>
                </c:pt>
                <c:pt idx="1">
                  <c:v>0.16</c:v>
                </c:pt>
                <c:pt idx="2">
                  <c:v>0.41</c:v>
                </c:pt>
                <c:pt idx="3">
                  <c:v>0.38</c:v>
                </c:pt>
              </c:numCache>
            </c:numRef>
          </c:val>
        </c:ser>
        <c:dLbls>
          <c:showLegendKey val="0"/>
          <c:showVal val="0"/>
          <c:showCatName val="0"/>
          <c:showSerName val="0"/>
          <c:showPercent val="0"/>
          <c:showBubbleSize val="0"/>
          <c:showLeaderLines val="0"/>
        </c:dLbls>
        <c:gapWidth val="80"/>
        <c:overlap val="-3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Percentage of respondents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plotVisOnly val="1"/>
    <c:dispBlanksAs val="gap"/>
    <c:showDLblsOverMax val="1"/>
  </c:chart>
  <c:txPr>
    <a:bodyPr/>
    <a:p>
      <a:pPr>
        <a:defRPr sz="1800" smtId="4294967295"/>
      </a:pPr>
      <a:endParaRPr sz="1800" smtId="4294967295"/>
    </a:p>
  </c:txPr>
  <c:externalData r:id="rId1"/>
</c:chartSpace>
</file>

<file path=ppt/charts/chart25.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stacked"/>
        <c:varyColors val="0"/>
        <c:ser>
          <c:idx val="0"/>
          <c:order val="0"/>
          <c:tx>
            <c:strRef>
              <c:f>Sheet1!$B$1</c:f>
              <c:strCache>
                <c:ptCount val="1"/>
                <c:pt idx="0">
                  <c:v>Definitely true</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strRef>
              <c:f>Sheet1!$A$2:$A$4</c:f>
              <c:strCache>
                <c:ptCount val="3"/>
                <c:pt idx="0">
                  <c:v>Democrats</c:v>
                </c:pt>
                <c:pt idx="1">
                  <c:v>Independents</c:v>
                </c:pt>
                <c:pt idx="2">
                  <c:v>Republicans</c:v>
                </c:pt>
              </c:strCache>
            </c:strRef>
          </c:cat>
          <c:val>
            <c:numRef>
              <c:f>Sheet1!$B$2:$B$4</c:f>
              <c:numCache>
                <c:ptCount val="3"/>
                <c:pt idx="0">
                  <c:v>0.01</c:v>
                </c:pt>
                <c:pt idx="1">
                  <c:v>0.03</c:v>
                </c:pt>
                <c:pt idx="2">
                  <c:v>0.03</c:v>
                </c:pt>
              </c:numCache>
            </c:numRef>
          </c:val>
        </c:ser>
        <c:ser>
          <c:idx val="1"/>
          <c:order val="1"/>
          <c:tx>
            <c:strRef>
              <c:f>Sheet1!$C$1</c:f>
              <c:strCache>
                <c:ptCount val="1"/>
                <c:pt idx="0">
                  <c:v>Probably true</c:v>
                </c:pt>
              </c:strCache>
            </c:strRef>
          </c:tx>
          <c:spPr>
            <a:solidFill>
              <a:srgbClr val="0F283E"/>
            </a:solidFill>
            <a:ln>
              <a:solidFill>
                <a:srgbClr val="0F283E"/>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strRef>
              <c:f>Sheet1!$A$2:$A$4</c:f>
              <c:strCache>
                <c:ptCount val="3"/>
                <c:pt idx="0">
                  <c:v>Democrats</c:v>
                </c:pt>
                <c:pt idx="1">
                  <c:v>Independents</c:v>
                </c:pt>
                <c:pt idx="2">
                  <c:v>Republicans</c:v>
                </c:pt>
              </c:strCache>
            </c:strRef>
          </c:cat>
          <c:val>
            <c:numRef>
              <c:f>Sheet1!$C$2:$C$4</c:f>
              <c:numCache>
                <c:ptCount val="3"/>
                <c:pt idx="0">
                  <c:v>0.08</c:v>
                </c:pt>
                <c:pt idx="1">
                  <c:v>0.16</c:v>
                </c:pt>
                <c:pt idx="2">
                  <c:v>0.2</c:v>
                </c:pt>
              </c:numCache>
            </c:numRef>
          </c:val>
        </c:ser>
        <c:ser>
          <c:idx val="2"/>
          <c:order val="2"/>
          <c:tx>
            <c:strRef>
              <c:f>Sheet1!$D$1</c:f>
              <c:strCache>
                <c:ptCount val="1"/>
                <c:pt idx="0">
                  <c:v>Probably false</c:v>
                </c:pt>
              </c:strCache>
            </c:strRef>
          </c:tx>
          <c:spPr>
            <a:solidFill>
              <a:srgbClr val="BABABA"/>
            </a:solidFill>
            <a:ln>
              <a:solidFill>
                <a:srgbClr val="BABABA"/>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strRef>
              <c:f>Sheet1!$A$2:$A$4</c:f>
              <c:strCache>
                <c:ptCount val="3"/>
                <c:pt idx="0">
                  <c:v>Democrats</c:v>
                </c:pt>
                <c:pt idx="1">
                  <c:v>Independents</c:v>
                </c:pt>
                <c:pt idx="2">
                  <c:v>Republicans</c:v>
                </c:pt>
              </c:strCache>
            </c:strRef>
          </c:cat>
          <c:val>
            <c:numRef>
              <c:f>Sheet1!$D$2:$D$4</c:f>
              <c:numCache>
                <c:ptCount val="3"/>
                <c:pt idx="0">
                  <c:v>0.31</c:v>
                </c:pt>
                <c:pt idx="1">
                  <c:v>0.41</c:v>
                </c:pt>
                <c:pt idx="2">
                  <c:v>0.54</c:v>
                </c:pt>
              </c:numCache>
            </c:numRef>
          </c:val>
        </c:ser>
        <c:ser>
          <c:idx val="3"/>
          <c:order val="3"/>
          <c:tx>
            <c:strRef>
              <c:f>Sheet1!$E$1</c:f>
              <c:strCache>
                <c:ptCount val="1"/>
                <c:pt idx="0">
                  <c:v>Definitely false</c:v>
                </c:pt>
              </c:strCache>
            </c:strRef>
          </c:tx>
          <c:spPr>
            <a:solidFill>
              <a:srgbClr val="A60B0B"/>
            </a:solidFill>
            <a:ln>
              <a:solidFill>
                <a:srgbClr val="A60B0B"/>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strRef>
              <c:f>Sheet1!$A$2:$A$4</c:f>
              <c:strCache>
                <c:ptCount val="3"/>
                <c:pt idx="0">
                  <c:v>Democrats</c:v>
                </c:pt>
                <c:pt idx="1">
                  <c:v>Independents</c:v>
                </c:pt>
                <c:pt idx="2">
                  <c:v>Republicans</c:v>
                </c:pt>
              </c:strCache>
            </c:strRef>
          </c:cat>
          <c:val>
            <c:numRef>
              <c:f>Sheet1!$E$2:$E$4</c:f>
              <c:numCache>
                <c:ptCount val="3"/>
                <c:pt idx="0">
                  <c:v>0.59</c:v>
                </c:pt>
                <c:pt idx="1">
                  <c:v>0.37</c:v>
                </c:pt>
                <c:pt idx="2">
                  <c:v>0.21</c:v>
                </c:pt>
              </c:numCache>
            </c:numRef>
          </c:val>
        </c:ser>
        <c:dLbls>
          <c:showLegendKey val="0"/>
          <c:showVal val="0"/>
          <c:showCatName val="0"/>
          <c:showSerName val="0"/>
          <c:showPercent val="0"/>
          <c:showBubbleSize val="0"/>
          <c:showLeaderLines val="0"/>
        </c:dLbls>
        <c:gapWidth val="80"/>
        <c:overlap val="10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Percentage of respondents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26.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stacked"/>
        <c:varyColors val="0"/>
        <c:ser>
          <c:idx val="0"/>
          <c:order val="0"/>
          <c:tx>
            <c:strRef>
              <c:f>Sheet1!$B$1</c:f>
              <c:strCache>
                <c:ptCount val="1"/>
                <c:pt idx="0">
                  <c:v>Definitely true</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strRef>
              <c:f>Sheet1!$A$2:$A$3</c:f>
              <c:strCache>
                <c:ptCount val="2"/>
                <c:pt idx="0">
                  <c:v>Less than college</c:v>
                </c:pt>
                <c:pt idx="1">
                  <c:v>College degree</c:v>
                </c:pt>
              </c:strCache>
            </c:strRef>
          </c:cat>
          <c:val>
            <c:numRef>
              <c:f>Sheet1!$B$2:$B$3</c:f>
              <c:numCache>
                <c:ptCount val="2"/>
                <c:pt idx="0">
                  <c:v>0.03</c:v>
                </c:pt>
                <c:pt idx="1">
                  <c:v>0.03</c:v>
                </c:pt>
              </c:numCache>
            </c:numRef>
          </c:val>
        </c:ser>
        <c:ser>
          <c:idx val="1"/>
          <c:order val="1"/>
          <c:tx>
            <c:strRef>
              <c:f>Sheet1!$C$1</c:f>
              <c:strCache>
                <c:ptCount val="1"/>
                <c:pt idx="0">
                  <c:v>Probably true</c:v>
                </c:pt>
              </c:strCache>
            </c:strRef>
          </c:tx>
          <c:spPr>
            <a:solidFill>
              <a:srgbClr val="0F283E"/>
            </a:solidFill>
            <a:ln>
              <a:solidFill>
                <a:srgbClr val="0F283E"/>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strRef>
              <c:f>Sheet1!$A$2:$A$3</c:f>
              <c:strCache>
                <c:ptCount val="2"/>
                <c:pt idx="0">
                  <c:v>Less than college</c:v>
                </c:pt>
                <c:pt idx="1">
                  <c:v>College degree</c:v>
                </c:pt>
              </c:strCache>
            </c:strRef>
          </c:cat>
          <c:val>
            <c:numRef>
              <c:f>Sheet1!$C$2:$C$3</c:f>
              <c:numCache>
                <c:ptCount val="2"/>
                <c:pt idx="0">
                  <c:v>0.2</c:v>
                </c:pt>
                <c:pt idx="1">
                  <c:v>0.08</c:v>
                </c:pt>
              </c:numCache>
            </c:numRef>
          </c:val>
        </c:ser>
        <c:ser>
          <c:idx val="2"/>
          <c:order val="2"/>
          <c:tx>
            <c:strRef>
              <c:f>Sheet1!$D$1</c:f>
              <c:strCache>
                <c:ptCount val="1"/>
                <c:pt idx="0">
                  <c:v>Probably false</c:v>
                </c:pt>
              </c:strCache>
            </c:strRef>
          </c:tx>
          <c:spPr>
            <a:solidFill>
              <a:srgbClr val="BABABA"/>
            </a:solidFill>
            <a:ln>
              <a:solidFill>
                <a:srgbClr val="BABABA"/>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strRef>
              <c:f>Sheet1!$A$2:$A$3</c:f>
              <c:strCache>
                <c:ptCount val="2"/>
                <c:pt idx="0">
                  <c:v>Less than college</c:v>
                </c:pt>
                <c:pt idx="1">
                  <c:v>College degree</c:v>
                </c:pt>
              </c:strCache>
            </c:strRef>
          </c:cat>
          <c:val>
            <c:numRef>
              <c:f>Sheet1!$D$2:$D$3</c:f>
              <c:numCache>
                <c:ptCount val="2"/>
                <c:pt idx="0">
                  <c:v>0.45</c:v>
                </c:pt>
                <c:pt idx="1">
                  <c:v>0.34</c:v>
                </c:pt>
              </c:numCache>
            </c:numRef>
          </c:val>
        </c:ser>
        <c:ser>
          <c:idx val="3"/>
          <c:order val="3"/>
          <c:tx>
            <c:strRef>
              <c:f>Sheet1!$E$1</c:f>
              <c:strCache>
                <c:ptCount val="1"/>
                <c:pt idx="0">
                  <c:v>Definitely false</c:v>
                </c:pt>
              </c:strCache>
            </c:strRef>
          </c:tx>
          <c:spPr>
            <a:solidFill>
              <a:srgbClr val="A60B0B"/>
            </a:solidFill>
            <a:ln>
              <a:solidFill>
                <a:srgbClr val="A60B0B"/>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strRef>
              <c:f>Sheet1!$A$2:$A$3</c:f>
              <c:strCache>
                <c:ptCount val="2"/>
                <c:pt idx="0">
                  <c:v>Less than college</c:v>
                </c:pt>
                <c:pt idx="1">
                  <c:v>College degree</c:v>
                </c:pt>
              </c:strCache>
            </c:strRef>
          </c:cat>
          <c:val>
            <c:numRef>
              <c:f>Sheet1!$E$2:$E$3</c:f>
              <c:numCache>
                <c:ptCount val="2"/>
                <c:pt idx="0">
                  <c:v>0.29</c:v>
                </c:pt>
                <c:pt idx="1">
                  <c:v>0.55</c:v>
                </c:pt>
              </c:numCache>
            </c:numRef>
          </c:val>
        </c:ser>
        <c:dLbls>
          <c:showLegendKey val="0"/>
          <c:showVal val="0"/>
          <c:showCatName val="0"/>
          <c:showSerName val="0"/>
          <c:showPercent val="0"/>
          <c:showBubbleSize val="0"/>
          <c:showLeaderLines val="0"/>
        </c:dLbls>
        <c:gapWidth val="80"/>
        <c:overlap val="10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Percentage of respondents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27.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stacked"/>
        <c:varyColors val="0"/>
        <c:ser>
          <c:idx val="0"/>
          <c:order val="0"/>
          <c:tx>
            <c:strRef>
              <c:f>Sheet1!$B$1</c:f>
              <c:strCache>
                <c:ptCount val="1"/>
                <c:pt idx="0">
                  <c:v>Very accurate</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strRef>
              <c:f>Sheet1!$A$2:$A$3</c:f>
              <c:strCache>
                <c:ptCount val="2"/>
                <c:pt idx="0">
                  <c:v>October 2018*</c:v>
                </c:pt>
                <c:pt idx="1">
                  <c:v>April 2024</c:v>
                </c:pt>
              </c:strCache>
            </c:strRef>
          </c:cat>
          <c:val>
            <c:numRef>
              <c:f>Sheet1!$B$2:$B$3</c:f>
              <c:numCache>
                <c:ptCount val="2"/>
                <c:pt idx="0">
                  <c:v>0.35</c:v>
                </c:pt>
                <c:pt idx="1">
                  <c:v>0.41</c:v>
                </c:pt>
              </c:numCache>
            </c:numRef>
          </c:val>
        </c:ser>
        <c:ser>
          <c:idx val="1"/>
          <c:order val="1"/>
          <c:tx>
            <c:strRef>
              <c:f>Sheet1!$C$1</c:f>
              <c:strCache>
                <c:ptCount val="1"/>
                <c:pt idx="0">
                  <c:v>Somewhat accurate</c:v>
                </c:pt>
              </c:strCache>
            </c:strRef>
          </c:tx>
          <c:spPr>
            <a:solidFill>
              <a:srgbClr val="0F283E"/>
            </a:solidFill>
            <a:ln>
              <a:solidFill>
                <a:srgbClr val="0F283E"/>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strRef>
              <c:f>Sheet1!$A$2:$A$3</c:f>
              <c:strCache>
                <c:ptCount val="2"/>
                <c:pt idx="0">
                  <c:v>October 2018*</c:v>
                </c:pt>
                <c:pt idx="1">
                  <c:v>April 2024</c:v>
                </c:pt>
              </c:strCache>
            </c:strRef>
          </c:cat>
          <c:val>
            <c:numRef>
              <c:f>Sheet1!$C$2:$C$3</c:f>
              <c:numCache>
                <c:ptCount val="2"/>
                <c:pt idx="0">
                  <c:v>0.37</c:v>
                </c:pt>
                <c:pt idx="1">
                  <c:v>0.32</c:v>
                </c:pt>
              </c:numCache>
            </c:numRef>
          </c:val>
        </c:ser>
        <c:ser>
          <c:idx val="2"/>
          <c:order val="2"/>
          <c:tx>
            <c:strRef>
              <c:f>Sheet1!$D$1</c:f>
              <c:strCache>
                <c:ptCount val="1"/>
                <c:pt idx="0">
                  <c:v>Not sure (volunteered)</c:v>
                </c:pt>
              </c:strCache>
            </c:strRef>
          </c:tx>
          <c:spPr>
            <a:solidFill>
              <a:srgbClr val="BABABA"/>
            </a:solidFill>
            <a:ln>
              <a:solidFill>
                <a:srgbClr val="BABABA"/>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strRef>
              <c:f>Sheet1!$A$2:$A$3</c:f>
              <c:strCache>
                <c:ptCount val="2"/>
                <c:pt idx="0">
                  <c:v>October 2018*</c:v>
                </c:pt>
                <c:pt idx="1">
                  <c:v>April 2024</c:v>
                </c:pt>
              </c:strCache>
            </c:strRef>
          </c:cat>
          <c:val>
            <c:numRef>
              <c:f>Sheet1!$D$2:$D$3</c:f>
              <c:numCache>
                <c:ptCount val="2"/>
                <c:pt idx="0">
                  <c:v>0.02</c:v>
                </c:pt>
                <c:pt idx="1">
                  <c:v>0.03</c:v>
                </c:pt>
              </c:numCache>
            </c:numRef>
          </c:val>
        </c:ser>
        <c:ser>
          <c:idx val="3"/>
          <c:order val="3"/>
          <c:tx>
            <c:strRef>
              <c:f>Sheet1!$E$1</c:f>
              <c:strCache>
                <c:ptCount val="1"/>
                <c:pt idx="0">
                  <c:v>Somewhat inaccurate</c:v>
                </c:pt>
              </c:strCache>
            </c:strRef>
          </c:tx>
          <c:spPr>
            <a:solidFill>
              <a:srgbClr val="A60B0B"/>
            </a:solidFill>
            <a:ln>
              <a:solidFill>
                <a:srgbClr val="A60B0B"/>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strRef>
              <c:f>Sheet1!$A$2:$A$3</c:f>
              <c:strCache>
                <c:ptCount val="2"/>
                <c:pt idx="0">
                  <c:v>October 2018*</c:v>
                </c:pt>
                <c:pt idx="1">
                  <c:v>April 2024</c:v>
                </c:pt>
              </c:strCache>
            </c:strRef>
          </c:cat>
          <c:val>
            <c:numRef>
              <c:f>Sheet1!$E$2:$E$3</c:f>
              <c:numCache>
                <c:ptCount val="2"/>
                <c:pt idx="0">
                  <c:v>0.18</c:v>
                </c:pt>
                <c:pt idx="1">
                  <c:v>0.18</c:v>
                </c:pt>
              </c:numCache>
            </c:numRef>
          </c:val>
        </c:ser>
        <c:ser>
          <c:idx val="4"/>
          <c:order val="4"/>
          <c:tx>
            <c:strRef>
              <c:f>Sheet1!$F$1</c:f>
              <c:strCache>
                <c:ptCount val="1"/>
                <c:pt idx="0">
                  <c:v>Very inaccurate</c:v>
                </c:pt>
              </c:strCache>
            </c:strRef>
          </c:tx>
          <c:spPr>
            <a:solidFill>
              <a:srgbClr val="87BC24"/>
            </a:solidFill>
            <a:ln>
              <a:solidFill>
                <a:srgbClr val="87BC24"/>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strRef>
              <c:f>Sheet1!$A$2:$A$3</c:f>
              <c:strCache>
                <c:ptCount val="2"/>
                <c:pt idx="0">
                  <c:v>October 2018*</c:v>
                </c:pt>
                <c:pt idx="1">
                  <c:v>April 2024</c:v>
                </c:pt>
              </c:strCache>
            </c:strRef>
          </c:cat>
          <c:val>
            <c:numRef>
              <c:f>Sheet1!$F$2:$F$3</c:f>
              <c:numCache>
                <c:ptCount val="2"/>
                <c:pt idx="0">
                  <c:v>0.08</c:v>
                </c:pt>
                <c:pt idx="1">
                  <c:v>0.06</c:v>
                </c:pt>
              </c:numCache>
            </c:numRef>
          </c:val>
        </c:ser>
        <c:dLbls>
          <c:showLegendKey val="0"/>
          <c:showVal val="0"/>
          <c:showCatName val="0"/>
          <c:showSerName val="0"/>
          <c:showPercent val="0"/>
          <c:showBubbleSize val="0"/>
          <c:showLeaderLines val="0"/>
        </c:dLbls>
        <c:gapWidth val="80"/>
        <c:overlap val="10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Percentage of respondents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charts/chart28.xml><?xml version="1.0" encoding="utf-8"?>
<c:chartSpace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c="http://schemas.openxmlformats.org/drawingml/2006/chart">
  <c:date1904 val="0"/>
  <c:lang val="ru-RU"/>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barChart>
        <c:barDir val="col"/>
        <c:grouping val="stacked"/>
        <c:varyColors val="0"/>
        <c:ser>
          <c:idx val="0"/>
          <c:order val="0"/>
          <c:tx>
            <c:strRef>
              <c:f>Sheet1!$B$1</c:f>
              <c:strCache>
                <c:ptCount val="1"/>
                <c:pt idx="0">
                  <c:v>Definitely false</c:v>
                </c:pt>
              </c:strCache>
            </c:strRef>
          </c:tx>
          <c:spPr>
            <a:solidFill>
              <a:srgbClr val="2875DD"/>
            </a:solidFill>
            <a:ln>
              <a:solidFill>
                <a:srgbClr val="2875DD"/>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strRef>
              <c:f>Sheet1!$A$2:$A$4</c:f>
              <c:strCache>
                <c:ptCount val="3"/>
                <c:pt idx="0">
                  <c:v>June 2021</c:v>
                </c:pt>
                <c:pt idx="1">
                  <c:v>August 2022</c:v>
                </c:pt>
                <c:pt idx="2">
                  <c:v>October 2023</c:v>
                </c:pt>
              </c:strCache>
            </c:strRef>
          </c:cat>
          <c:val>
            <c:numRef>
              <c:f>Sheet1!$B$2:$B$4</c:f>
              <c:numCache>
                <c:ptCount val="3"/>
                <c:pt idx="0">
                  <c:v>0.47</c:v>
                </c:pt>
                <c:pt idx="1">
                  <c:v>0.44</c:v>
                </c:pt>
                <c:pt idx="2">
                  <c:v>0.43</c:v>
                </c:pt>
              </c:numCache>
            </c:numRef>
          </c:val>
        </c:ser>
        <c:ser>
          <c:idx val="1"/>
          <c:order val="1"/>
          <c:tx>
            <c:strRef>
              <c:f>Sheet1!$C$1</c:f>
              <c:strCache>
                <c:ptCount val="1"/>
                <c:pt idx="0">
                  <c:v>Probably false</c:v>
                </c:pt>
              </c:strCache>
            </c:strRef>
          </c:tx>
          <c:spPr>
            <a:solidFill>
              <a:srgbClr val="0F283E"/>
            </a:solidFill>
            <a:ln>
              <a:solidFill>
                <a:srgbClr val="0F283E"/>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strRef>
              <c:f>Sheet1!$A$2:$A$4</c:f>
              <c:strCache>
                <c:ptCount val="3"/>
                <c:pt idx="0">
                  <c:v>June 2021</c:v>
                </c:pt>
                <c:pt idx="1">
                  <c:v>August 2022</c:v>
                </c:pt>
                <c:pt idx="2">
                  <c:v>October 2023</c:v>
                </c:pt>
              </c:strCache>
            </c:strRef>
          </c:cat>
          <c:val>
            <c:numRef>
              <c:f>Sheet1!$C$2:$C$4</c:f>
              <c:numCache>
                <c:ptCount val="3"/>
                <c:pt idx="0">
                  <c:v>0.27</c:v>
                </c:pt>
                <c:pt idx="1">
                  <c:v>0.27</c:v>
                </c:pt>
                <c:pt idx="2">
                  <c:v>0.27</c:v>
                </c:pt>
              </c:numCache>
            </c:numRef>
          </c:val>
        </c:ser>
        <c:ser>
          <c:idx val="2"/>
          <c:order val="2"/>
          <c:tx>
            <c:strRef>
              <c:f>Sheet1!$D$1</c:f>
              <c:strCache>
                <c:ptCount val="1"/>
                <c:pt idx="0">
                  <c:v>Not sure (explicit)</c:v>
                </c:pt>
              </c:strCache>
            </c:strRef>
          </c:tx>
          <c:spPr>
            <a:solidFill>
              <a:srgbClr val="BABABA"/>
            </a:solidFill>
            <a:ln>
              <a:solidFill>
                <a:srgbClr val="BABABA"/>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strRef>
              <c:f>Sheet1!$A$2:$A$4</c:f>
              <c:strCache>
                <c:ptCount val="3"/>
                <c:pt idx="0">
                  <c:v>June 2021</c:v>
                </c:pt>
                <c:pt idx="1">
                  <c:v>August 2022</c:v>
                </c:pt>
                <c:pt idx="2">
                  <c:v>October 2023</c:v>
                </c:pt>
              </c:strCache>
            </c:strRef>
          </c:cat>
          <c:val>
            <c:numRef>
              <c:f>Sheet1!$D$2:$D$4</c:f>
              <c:numCache>
                <c:ptCount val="3"/>
                <c:pt idx="0">
                  <c:v>0.18</c:v>
                </c:pt>
                <c:pt idx="1">
                  <c:v>0.17</c:v>
                </c:pt>
                <c:pt idx="2">
                  <c:v>0.18</c:v>
                </c:pt>
              </c:numCache>
            </c:numRef>
          </c:val>
        </c:ser>
        <c:ser>
          <c:idx val="3"/>
          <c:order val="3"/>
          <c:tx>
            <c:strRef>
              <c:f>Sheet1!$E$1</c:f>
              <c:strCache>
                <c:ptCount val="1"/>
                <c:pt idx="0">
                  <c:v>Probably true</c:v>
                </c:pt>
              </c:strCache>
            </c:strRef>
          </c:tx>
          <c:spPr>
            <a:solidFill>
              <a:srgbClr val="A60B0B"/>
            </a:solidFill>
            <a:ln>
              <a:solidFill>
                <a:srgbClr val="A60B0B"/>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strRef>
              <c:f>Sheet1!$A$2:$A$4</c:f>
              <c:strCache>
                <c:ptCount val="3"/>
                <c:pt idx="0">
                  <c:v>June 2021</c:v>
                </c:pt>
                <c:pt idx="1">
                  <c:v>August 2022</c:v>
                </c:pt>
                <c:pt idx="2">
                  <c:v>October 2023</c:v>
                </c:pt>
              </c:strCache>
            </c:strRef>
          </c:cat>
          <c:val>
            <c:numRef>
              <c:f>Sheet1!$E$2:$E$4</c:f>
              <c:numCache>
                <c:ptCount val="3"/>
                <c:pt idx="0">
                  <c:v>0.07</c:v>
                </c:pt>
                <c:pt idx="1">
                  <c:v>0.09</c:v>
                </c:pt>
                <c:pt idx="2">
                  <c:v>0.1</c:v>
                </c:pt>
              </c:numCache>
            </c:numRef>
          </c:val>
        </c:ser>
        <c:ser>
          <c:idx val="4"/>
          <c:order val="4"/>
          <c:tx>
            <c:strRef>
              <c:f>Sheet1!$F$1</c:f>
              <c:strCache>
                <c:ptCount val="1"/>
                <c:pt idx="0">
                  <c:v>Definitely true</c:v>
                </c:pt>
              </c:strCache>
            </c:strRef>
          </c:tx>
          <c:spPr>
            <a:solidFill>
              <a:srgbClr val="87BC24"/>
            </a:solidFill>
            <a:ln>
              <a:solidFill>
                <a:srgbClr val="87BC24"/>
              </a:solidFill>
            </a:ln>
          </c:spPr>
          <c:invertIfNegative val="0"/>
          <c:dLbls>
            <c:dLbl>
              <c:idx val="0"/>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1"/>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dLbl>
              <c:idx val="2"/>
              <c:numFmt formatCode="#,##0%" sourceLinked="0"/>
              <c:txPr>
                <a:bodyPr/>
                <a:p>
                  <a:pPr>
                    <a:defRPr sz="1100" b="0" smtId="4294967295">
                      <a:solidFill>
                        <a:srgbClr val="FFFFFF"/>
                      </a:solidFill>
                      <a:effectLst>
                        <a:outerShdw dist="38100" dir="2700000">
                          <a:srgbClr val="0F2741"/>
                        </a:outerShdw>
                      </a:effectLst>
                      <a:latin typeface="Open Sans"/>
                    </a:defRPr>
                  </a:pPr>
                  <a:endParaRPr sz="1100" b="0" smtId="4294967295">
                    <a:solidFill>
                      <a:srgbClr val="FFFFFF"/>
                    </a:solidFill>
                    <a:effectLst>
                      <a:outerShdw dist="38100" dir="2700000">
                        <a:srgbClr val="0F2741"/>
                      </a:outerShdw>
                    </a:effectLst>
                    <a:latin typeface="Open Sans"/>
                  </a:endParaRPr>
                </a:p>
              </c:txPr>
              <c:dLblPos val="ctr"/>
              <c:showLegendKey val="0"/>
              <c:showVal val="1"/>
              <c:showCatName val="0"/>
              <c:showSerName val="0"/>
              <c:showPercent val="0"/>
              <c:showBubbleSize val="0"/>
              <c:extLst/>
            </c:dLbl>
            <c:txPr>
              <a:bodyPr/>
              <a:p>
                <a:pPr>
                  <a:defRPr sz="1100" b="0" smtId="4294967295">
                    <a:solidFill>
                      <a:prstClr val="black"/>
                    </a:solidFill>
                    <a:latin typeface="Open Sans"/>
                  </a:defRPr>
                </a:pPr>
                <a:endParaRPr sz="1100" b="0" smtId="4294967295">
                  <a:solidFill>
                    <a:prstClr val="black"/>
                  </a:solidFill>
                  <a:latin typeface="Open Sans"/>
                </a:endParaRPr>
              </a:p>
            </c:txPr>
            <c:showLegendKey val="0"/>
            <c:showVal val="1"/>
            <c:showCatName val="0"/>
            <c:showSerName val="0"/>
            <c:showPercent val="0"/>
            <c:showBubbleSize val="0"/>
            <c:showLeaderLines val="0"/>
            <c:extLst/>
          </c:dLbls>
          <c:cat>
            <c:strRef>
              <c:f>Sheet1!$A$2:$A$4</c:f>
              <c:strCache>
                <c:ptCount val="3"/>
                <c:pt idx="0">
                  <c:v>June 2021</c:v>
                </c:pt>
                <c:pt idx="1">
                  <c:v>August 2022</c:v>
                </c:pt>
                <c:pt idx="2">
                  <c:v>October 2023</c:v>
                </c:pt>
              </c:strCache>
            </c:strRef>
          </c:cat>
          <c:val>
            <c:numRef>
              <c:f>Sheet1!$F$2:$F$4</c:f>
              <c:numCache>
                <c:ptCount val="3"/>
                <c:pt idx="0">
                  <c:v>0.02</c:v>
                </c:pt>
                <c:pt idx="1">
                  <c:v>0.02</c:v>
                </c:pt>
                <c:pt idx="2">
                  <c:v>0.02</c:v>
                </c:pt>
              </c:numCache>
            </c:numRef>
          </c:val>
        </c:ser>
        <c:dLbls>
          <c:showLegendKey val="0"/>
          <c:showVal val="0"/>
          <c:showCatName val="0"/>
          <c:showSerName val="0"/>
          <c:showPercent val="0"/>
          <c:showBubbleSize val="0"/>
          <c:showLeaderLines val="0"/>
        </c:dLbls>
        <c:gapWidth val="80"/>
        <c:overlap val="100"/>
        <c:axId val="67451136"/>
        <c:axId val="66437120"/>
      </c:barChart>
      <c:catAx>
        <c:axId val="67451136"/>
        <c:scaling>
          <c:orientation/>
        </c:scaling>
        <c:delete val="0"/>
        <c:axPos val="b"/>
        <c:majorTickMark val="none"/>
        <c:minorTickMark val="none"/>
        <c:tickLblPos val="low"/>
        <c:spPr>
          <a:ln w="25400">
            <a:solidFill>
              <a:srgbClr val="000000"/>
            </a:solid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6437120"/>
        <c:crosses val="autoZero"/>
        <c:auto val="0"/>
        <c:lblAlgn val="ctr"/>
        <c:lblOffset/>
        <c:noMultiLvlLbl val="0"/>
      </c:catAx>
      <c:valAx>
        <c:axId val="66437120"/>
        <c:scaling>
          <c:orientation/>
          <c:min val="0"/>
        </c:scaling>
        <c:delete val="0"/>
        <c:axPos val="l"/>
        <c:majorGridlines>
          <c:spPr>
            <a:ln w="9525">
              <a:solidFill>
                <a:srgbClr val="2F2F2F"/>
              </a:solidFill>
              <a:prstDash val="dot"/>
            </a:ln>
          </c:spPr>
        </c:majorGridlines>
        <c:title>
          <c:tx>
            <c:rich>
              <a:bodyPr/>
              <a:lstStyle/>
              <a:p>
                <a:pPr>
                  <a:defRPr/>
                </a:pPr>
                <a:r>
                  <a:rPr sz="1100" b="0">
                    <a:solidFill>
                      <a:srgbClr val="0F2741"/>
                    </a:solidFill>
                    <a:latin typeface="Open Sans"/>
                  </a:rPr>
                  <a:t>Percentage of respondents</a:t>
                </a:r>
              </a:p>
            </c:rich>
          </c:tx>
          <c:overlay val="0"/>
        </c:title>
        <c:numFmt formatCode="#,##0%" sourceLinked="0"/>
        <c:majorTickMark val="none"/>
        <c:minorTickMark val="none"/>
        <c:tickLblPos val="low"/>
        <c:spPr>
          <a:ln>
            <a:noFill/>
          </a:ln>
        </c:spPr>
        <c:txPr>
          <a:bodyPr/>
          <a:p>
            <a:pPr>
              <a:defRPr sz="1100" b="0" smtId="4294967295">
                <a:solidFill>
                  <a:srgbClr val="0F2741"/>
                </a:solidFill>
                <a:latin typeface="Open Sans"/>
              </a:defRPr>
            </a:pPr>
            <a:endParaRPr sz="1100" b="0" smtId="4294967295">
              <a:solidFill>
                <a:srgbClr val="0F2741"/>
              </a:solidFill>
              <a:latin typeface="Open Sans"/>
            </a:endParaRPr>
          </a:p>
        </c:txPr>
        <c:crossAx val="67451136"/>
        <c:crosses val="autoZero"/>
        <c:crossBetween val="between"/>
      </c:valAx>
    </c:plotArea>
    <c:legend>
      <c:legendPos val="t"/>
      <c:overlay val="0"/>
      <c:txPr>
        <a:bodyPr/>
        <a:p>
          <a:pPr>
            <a:defRPr sz="1100" smtId="4294967295">
              <a:solidFill>
                <a:srgbClr val="0F2741"/>
              </a:solidFill>
              <a:latin typeface="Open Sans"/>
            </a:defRPr>
          </a:pPr>
          <a:endParaRPr sz="1100" smtId="4294967295">
            <a:solidFill>
              <a:srgbClr val="0F2741"/>
            </a:solidFill>
            <a:latin typeface="Open Sans"/>
          </a:endParaRPr>
        </a:p>
      </c:txPr>
    </c:legend>
    <c:plotVisOnly val="1"/>
    <c:dispBlanksAs val="gap"/>
    <c:showDLblsOverMax val="1"/>
  </c:chart>
  <c:txPr>
    <a:bodyPr/>
    <a:p>
      <a:pPr>
        <a:defRPr sz="1800" smtId="4294967295"/>
      </a:pPr>
      <a:endParaRPr sz="1800" smtId="4294967295"/>
    </a:p>
  </c:txPr>
  <c:externalData r:id="rId1"/>
</c:chartSpace>
</file>

<file path=ppt/drawings/_rels/vmlDrawing1.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2.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drawings/_rels/vmlDrawing3.v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9.png" /></Relationships>
</file>

<file path=ppt/slideLayouts/_rels/slideLayout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 preserve="1">
  <p:cSld name="Title Slide">
    <p:spTree>
      <p:nvGrpSpPr>
        <p:cNvPr id="1" name="" title=""/>
        <p:cNvGrpSpPr/>
        <p:nvPr/>
      </p:nvGrpSpPr>
      <p:grpSpPr>
        <a:xfrm>
          <a:off x="0" y="0"/>
          <a:ext cx="0" cy="0"/>
        </a:xfrm>
      </p:grpSpPr>
      <p:sp>
        <p:nvSpPr>
          <p:cNvPr id="2" name="Title 1" title=""/>
          <p:cNvSpPr>
            <a:spLocks noGrp="1"/>
          </p:cNvSpPr>
          <p:nvPr>
            <p:ph type="ctrTitle"/>
          </p:nvPr>
        </p:nvSpPr>
        <p:spPr/>
        <p:txBody>
          <a:bodyPr/>
          <a:lstStyle/>
          <a:p>
            <a:r>
              <a:rPr lang="en-US" smtClean="0"/>
              <a:t>Click to edit Master title style</a:t>
            </a:r>
            <a:endParaRPr lang="en-US"/>
          </a:p>
        </p:txBody>
      </p:sp>
      <p:sp>
        <p:nvSpPr>
          <p:cNvPr id="3" name="Subtitle 2" title=""/>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title=""/>
          <p:cNvSpPr>
            <a:spLocks noGrp="1"/>
          </p:cNvSpPr>
          <p:nvPr>
            <p:ph type="dt" sz="half" idx="2"/>
          </p:nvPr>
        </p:nvSpPr>
        <p:spPr/>
        <p:txBody>
          <a:bodyPr/>
          <a:lstStyle/>
          <a:p>
            <a:fld id="{DE539573-65F9-486C-9B55-D6F5688018CC}"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 preserve="1">
  <p:cSld name="Title and Conten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Content Placeholder 2" title=""/>
          <p:cNvSpPr>
            <a:spLocks noGrp="1"/>
          </p:cNvSpPr>
          <p:nvPr>
            <p:ph idx="1"/>
          </p:nvPr>
        </p:nvSpPr>
        <p:spPr/>
        <p:txBody>
          <a:body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0A6638E1-5C02-497B-A508-DD44D17F8A1A}"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secHead" preserve="1">
  <p:cSld name="Section Header">
    <p:spTree>
      <p:nvGrpSpPr>
        <p:cNvPr id="1" name="" title=""/>
        <p:cNvGrpSpPr/>
        <p:nvPr/>
      </p:nvGrpSpPr>
      <p:grpSpPr>
        <a:xfrm>
          <a:off x="0" y="0"/>
          <a:ext cx="0" cy="0"/>
        </a:xfrm>
      </p:grpSpPr>
      <p:sp>
        <p:nvSpPr>
          <p:cNvPr id="2" name="Title 1" title=""/>
          <p:cNvSpPr>
            <a:spLocks noGrp="1"/>
          </p:cNvSpPr>
          <p:nvPr>
            <p:ph type="title"/>
          </p:nvPr>
        </p:nvSpPr>
        <p:spPr/>
        <p:txBody>
          <a:bodyPr anchor="t"/>
          <a:lstStyle>
            <a:lvl1pPr algn="l">
              <a:defRPr sz="4000" b="1" cap="all"/>
            </a:lvl1pPr>
          </a:lstStyle>
          <a:p>
            <a:r>
              <a:rPr lang="en-US" smtClean="0"/>
              <a:t>Click to edit Master title style</a:t>
            </a:r>
            <a:endParaRPr lang="en-US"/>
          </a:p>
        </p:txBody>
      </p:sp>
      <p:sp>
        <p:nvSpPr>
          <p:cNvPr id="3" name="Text Placeholder 2" title=""/>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smtClean="0"/>
              <a:t>Click to edit Master text styles</a:t>
            </a:r>
          </a:p>
        </p:txBody>
      </p:sp>
      <p:sp>
        <p:nvSpPr>
          <p:cNvPr id="4" name="Date Placeholder 3" title=""/>
          <p:cNvSpPr>
            <a:spLocks noGrp="1"/>
          </p:cNvSpPr>
          <p:nvPr>
            <p:ph type="dt" sz="half" idx="2"/>
          </p:nvPr>
        </p:nvSpPr>
        <p:spPr/>
        <p:txBody>
          <a:bodyPr/>
          <a:lstStyle/>
          <a:p>
            <a:fld id="{F459DE7F-47CE-4362-8FD5-FD82A68FDABC}"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Obj" preserve="1">
  <p:cSld name="Two Conten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Content Placeholder 2" title=""/>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title=""/>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title=""/>
          <p:cNvSpPr>
            <a:spLocks noGrp="1"/>
          </p:cNvSpPr>
          <p:nvPr>
            <p:ph type="dt" sz="half" idx="3"/>
          </p:nvPr>
        </p:nvSpPr>
        <p:spPr/>
        <p:txBody>
          <a:bodyPr/>
          <a:lstStyle/>
          <a:p>
            <a:fld id="{71ED59EE-9C86-412C-888B-690E94DD0F21}" type="datetimeFigureOut">
              <a:rPr lang="en-US" smtClean="0"/>
              <a:t>11/7/2009</a:t>
            </a:fld>
            <a:endParaRPr lang="en-US"/>
          </a:p>
        </p:txBody>
      </p:sp>
      <p:sp>
        <p:nvSpPr>
          <p:cNvPr id="6" name="Footer Placeholder 5" title=""/>
          <p:cNvSpPr>
            <a:spLocks noGrp="1"/>
          </p:cNvSpPr>
          <p:nvPr>
            <p:ph type="ftr" sz="quarter" idx="4"/>
          </p:nvPr>
        </p:nvSpPr>
        <p:spPr/>
        <p:txBody>
          <a:bodyPr/>
          <a:lstStyle/>
          <a:p>
            <a:endParaRPr lang="en-US"/>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woTxTwoObj" preserve="1">
  <p:cSld name="Comparison">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Text Placeholder 2" title=""/>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smtClean="0"/>
              <a:t>Click to edit Master text styles</a:t>
            </a:r>
          </a:p>
        </p:txBody>
      </p:sp>
      <p:sp>
        <p:nvSpPr>
          <p:cNvPr id="4" name="Content Placeholder 3" title=""/>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title=""/>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smtClean="0"/>
              <a:t>Click to edit Master text styles</a:t>
            </a:r>
          </a:p>
        </p:txBody>
      </p:sp>
      <p:sp>
        <p:nvSpPr>
          <p:cNvPr id="6" name="Content Placeholder 5" title=""/>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title=""/>
          <p:cNvSpPr>
            <a:spLocks noGrp="1"/>
          </p:cNvSpPr>
          <p:nvPr>
            <p:ph type="dt" sz="half" idx="5"/>
          </p:nvPr>
        </p:nvSpPr>
        <p:spPr/>
        <p:txBody>
          <a:bodyPr/>
          <a:lstStyle/>
          <a:p>
            <a:fld id="{0A6B0101-4F54-49B5-ABB2-0B8276808BC5}" type="datetimeFigureOut">
              <a:rPr lang="en-US" smtClean="0"/>
              <a:t>11/7/2009</a:t>
            </a:fld>
            <a:endParaRPr lang="en-US"/>
          </a:p>
        </p:txBody>
      </p:sp>
      <p:sp>
        <p:nvSpPr>
          <p:cNvPr id="8" name="Footer Placeholder 7" title=""/>
          <p:cNvSpPr>
            <a:spLocks noGrp="1"/>
          </p:cNvSpPr>
          <p:nvPr>
            <p:ph type="ftr" sz="quarter" idx="6"/>
          </p:nvPr>
        </p:nvSpPr>
        <p:spPr/>
        <p:txBody>
          <a:bodyPr/>
          <a:lstStyle/>
          <a:p>
            <a:endParaRPr lang="en-US"/>
          </a:p>
        </p:txBody>
      </p:sp>
      <p:sp>
        <p:nvSpPr>
          <p:cNvPr id="9" name="Slide Number Placeholder 8" title=""/>
          <p:cNvSpPr>
            <a:spLocks noGrp="1"/>
          </p:cNvSpPr>
          <p:nvPr>
            <p:ph type="sldNum" sz="quarter" idx="7"/>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titleOnly" preserve="1">
  <p:cSld name="Title Only">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Date Placeholder 2" title=""/>
          <p:cNvSpPr>
            <a:spLocks noGrp="1"/>
          </p:cNvSpPr>
          <p:nvPr>
            <p:ph type="dt" sz="half" idx="1"/>
          </p:nvPr>
        </p:nvSpPr>
        <p:spPr/>
        <p:txBody>
          <a:bodyPr/>
          <a:lstStyle/>
          <a:p>
            <a:fld id="{9D88D05D-1C52-42DC-BEE8-576D52265EC4}" type="datetimeFigureOut">
              <a:rPr lang="en-US" smtClean="0"/>
              <a:t>11/7/2009</a:t>
            </a:fld>
            <a:endParaRPr lang="en-US"/>
          </a:p>
        </p:txBody>
      </p:sp>
      <p:sp>
        <p:nvSpPr>
          <p:cNvPr id="4" name="Footer Placeholder 3" title=""/>
          <p:cNvSpPr>
            <a:spLocks noGrp="1"/>
          </p:cNvSpPr>
          <p:nvPr>
            <p:ph type="ftr" sz="quarter" idx="2"/>
          </p:nvPr>
        </p:nvSpPr>
        <p:spPr/>
        <p:txBody>
          <a:bodyPr/>
          <a:lstStyle/>
          <a:p>
            <a:endParaRPr lang="en-US"/>
          </a:p>
        </p:txBody>
      </p:sp>
      <p:sp>
        <p:nvSpPr>
          <p:cNvPr id="5" name="Slide Number Placeholder 4" title=""/>
          <p:cNvSpPr>
            <a:spLocks noGrp="1"/>
          </p:cNvSpPr>
          <p:nvPr>
            <p:ph type="sldNum" sz="quarter" idx="3"/>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blank" preserve="1">
  <p:cSld name="Blank">
    <p:spTree>
      <p:nvGrpSpPr>
        <p:cNvPr id="1" name="" title=""/>
        <p:cNvGrpSpPr/>
        <p:nvPr/>
      </p:nvGrpSpPr>
      <p:grpSpPr>
        <a:xfrm>
          <a:off x="0" y="0"/>
          <a:ext cx="0" cy="0"/>
        </a:xfrm>
      </p:grpSpPr>
      <p:sp>
        <p:nvSpPr>
          <p:cNvPr id="2" name="Date Placeholder 1" title=""/>
          <p:cNvSpPr>
            <a:spLocks noGrp="1"/>
          </p:cNvSpPr>
          <p:nvPr>
            <p:ph type="dt" sz="half"/>
          </p:nvPr>
        </p:nvSpPr>
        <p:spPr/>
        <p:txBody>
          <a:bodyPr/>
          <a:lstStyle/>
          <a:p>
            <a:fld id="{4C9EF0F3-7AD9-4DF8-8C6F-ECE84FD63BF7}" type="datetimeFigureOut">
              <a:rPr lang="en-US" smtClean="0"/>
              <a:t>11/7/2009</a:t>
            </a:fld>
            <a:endParaRPr lang="en-US"/>
          </a:p>
        </p:txBody>
      </p:sp>
      <p:sp>
        <p:nvSpPr>
          <p:cNvPr id="3" name="Footer Placeholder 2" title=""/>
          <p:cNvSpPr>
            <a:spLocks noGrp="1"/>
          </p:cNvSpPr>
          <p:nvPr>
            <p:ph type="ftr" sz="quarter" idx="1"/>
          </p:nvPr>
        </p:nvSpPr>
        <p:spPr/>
        <p:txBody>
          <a:bodyPr/>
          <a:lstStyle/>
          <a:p>
            <a:endParaRPr lang="en-US"/>
          </a:p>
        </p:txBody>
      </p:sp>
      <p:sp>
        <p:nvSpPr>
          <p:cNvPr id="4" name="Slide Number Placeholder 3" title=""/>
          <p:cNvSpPr>
            <a:spLocks noGrp="1"/>
          </p:cNvSpPr>
          <p:nvPr>
            <p:ph type="sldNum" sz="quarter" idx="2"/>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objTx" preserve="1">
  <p:cSld name="Content with Caption">
    <p:spTree>
      <p:nvGrpSpPr>
        <p:cNvPr id="1" name="" title=""/>
        <p:cNvGrpSpPr/>
        <p:nvPr/>
      </p:nvGrpSpPr>
      <p:grpSpPr>
        <a:xfrm>
          <a:off x="0" y="0"/>
          <a:ext cx="0" cy="0"/>
        </a:xfrm>
      </p:grpSpPr>
      <p:sp>
        <p:nvSpPr>
          <p:cNvPr id="2" name="Title 1" title=""/>
          <p:cNvSpPr>
            <a:spLocks noGrp="1"/>
          </p:cNvSpPr>
          <p:nvPr>
            <p:ph type="title"/>
          </p:nvPr>
        </p:nvSpPr>
        <p:spPr/>
        <p:txBody>
          <a:bodyPr anchor="b"/>
          <a:lstStyle>
            <a:lvl1pPr algn="l">
              <a:defRPr sz="2000" b="1"/>
            </a:lvl1pPr>
          </a:lstStyle>
          <a:p>
            <a:r>
              <a:rPr lang="en-US" smtClean="0"/>
              <a:t>Click to edit Master title style</a:t>
            </a:r>
            <a:endParaRPr lang="en-US"/>
          </a:p>
        </p:txBody>
      </p:sp>
      <p:sp>
        <p:nvSpPr>
          <p:cNvPr id="3" name="Content Placeholder 2" title=""/>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title=""/>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smtClean="0"/>
              <a:t>Click to edit Master text styles</a:t>
            </a:r>
          </a:p>
        </p:txBody>
      </p:sp>
      <p:sp>
        <p:nvSpPr>
          <p:cNvPr id="5" name="Date Placeholder 4" title=""/>
          <p:cNvSpPr>
            <a:spLocks noGrp="1"/>
          </p:cNvSpPr>
          <p:nvPr>
            <p:ph type="dt" sz="half" idx="3"/>
          </p:nvPr>
        </p:nvSpPr>
        <p:spPr/>
        <p:txBody>
          <a:bodyPr/>
          <a:lstStyle/>
          <a:p>
            <a:fld id="{8B0BE3C6-8C61-43F7-A329-43787686ADFD}" type="datetimeFigureOut">
              <a:rPr lang="en-US" smtClean="0"/>
              <a:t>11/7/2009</a:t>
            </a:fld>
            <a:endParaRPr lang="en-US"/>
          </a:p>
        </p:txBody>
      </p:sp>
      <p:sp>
        <p:nvSpPr>
          <p:cNvPr id="6" name="Footer Placeholder 5" title=""/>
          <p:cNvSpPr>
            <a:spLocks noGrp="1"/>
          </p:cNvSpPr>
          <p:nvPr>
            <p:ph type="ftr" sz="quarter" idx="4"/>
          </p:nvPr>
        </p:nvSpPr>
        <p:spPr/>
        <p:txBody>
          <a:bodyPr/>
          <a:lstStyle/>
          <a:p>
            <a:endParaRPr lang="en-US"/>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picTx" preserve="1">
  <p:cSld name="Picture with Caption">
    <p:spTree>
      <p:nvGrpSpPr>
        <p:cNvPr id="1" name="" title=""/>
        <p:cNvGrpSpPr/>
        <p:nvPr/>
      </p:nvGrpSpPr>
      <p:grpSpPr>
        <a:xfrm>
          <a:off x="0" y="0"/>
          <a:ext cx="0" cy="0"/>
        </a:xfrm>
      </p:grpSpPr>
      <p:sp>
        <p:nvSpPr>
          <p:cNvPr id="2" name="Title 1" title=""/>
          <p:cNvSpPr>
            <a:spLocks noGrp="1"/>
          </p:cNvSpPr>
          <p:nvPr>
            <p:ph type="title"/>
          </p:nvPr>
        </p:nvSpPr>
        <p:spPr/>
        <p:txBody>
          <a:bodyPr anchor="b"/>
          <a:lstStyle>
            <a:lvl1pPr algn="l">
              <a:defRPr sz="2000" b="1"/>
            </a:lvl1pPr>
          </a:lstStyle>
          <a:p>
            <a:r>
              <a:rPr lang="en-US" smtClean="0"/>
              <a:t>Click to edit Master title style</a:t>
            </a:r>
            <a:endParaRPr lang="en-US"/>
          </a:p>
        </p:txBody>
      </p:sp>
      <p:sp>
        <p:nvSpPr>
          <p:cNvPr id="3" name="Picture Placeholder 2" title=""/>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title=""/>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smtClean="0"/>
              <a:t>Click to edit Master text styles</a:t>
            </a:r>
          </a:p>
        </p:txBody>
      </p:sp>
      <p:sp>
        <p:nvSpPr>
          <p:cNvPr id="5" name="Date Placeholder 4" title=""/>
          <p:cNvSpPr>
            <a:spLocks noGrp="1"/>
          </p:cNvSpPr>
          <p:nvPr>
            <p:ph type="dt" sz="half" idx="3"/>
          </p:nvPr>
        </p:nvSpPr>
        <p:spPr/>
        <p:txBody>
          <a:bodyPr/>
          <a:lstStyle/>
          <a:p>
            <a:fld id="{F9C743FB-0544-4A8B-9F06-C28A3C6A5306}" type="datetimeFigureOut">
              <a:rPr lang="en-US" smtClean="0"/>
              <a:t>11/7/2009</a:t>
            </a:fld>
            <a:endParaRPr lang="en-US"/>
          </a:p>
        </p:txBody>
      </p:sp>
      <p:sp>
        <p:nvSpPr>
          <p:cNvPr id="6" name="Footer Placeholder 5" title=""/>
          <p:cNvSpPr>
            <a:spLocks noGrp="1"/>
          </p:cNvSpPr>
          <p:nvPr>
            <p:ph type="ftr" sz="quarter" idx="4"/>
          </p:nvPr>
        </p:nvSpPr>
        <p:spPr/>
        <p:txBody>
          <a:bodyPr/>
          <a:lstStyle/>
          <a:p>
            <a:endParaRPr lang="en-US"/>
          </a:p>
        </p:txBody>
      </p:sp>
      <p:sp>
        <p:nvSpPr>
          <p:cNvPr id="7" name="Slide Number Placeholder 6" title=""/>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x" preserve="1">
  <p:cSld name="Title and Vertical Text">
    <p:spTree>
      <p:nvGrpSpPr>
        <p:cNvPr id="1" name="" title=""/>
        <p:cNvGrpSpPr/>
        <p:nvPr/>
      </p:nvGrpSpPr>
      <p:grpSpPr>
        <a:xfrm>
          <a:off x="0" y="0"/>
          <a:ext cx="0" cy="0"/>
        </a:xfrm>
      </p:grpSpPr>
      <p:sp>
        <p:nvSpPr>
          <p:cNvPr id="2" name="Title 1" title=""/>
          <p:cNvSpPr>
            <a:spLocks noGrp="1"/>
          </p:cNvSpPr>
          <p:nvPr>
            <p:ph type="title"/>
          </p:nvPr>
        </p:nvSpPr>
        <p:spPr/>
        <p:txBody>
          <a:bodyPr/>
          <a:lstStyle/>
          <a:p>
            <a:r>
              <a:rPr lang="en-US" smtClean="0"/>
              <a:t>Click to edit Master title style</a:t>
            </a:r>
            <a:endParaRPr lang="en-US"/>
          </a:p>
        </p:txBody>
      </p:sp>
      <p:sp>
        <p:nvSpPr>
          <p:cNvPr id="3" name="Vertical Text Placeholder 2" title=""/>
          <p:cNvSpPr>
            <a:spLocks noGrp="1"/>
          </p:cNvSpPr>
          <p:nvPr>
            <p:ph type="body" orient="vert" idx="1"/>
          </p:nvPr>
        </p:nvSpPr>
        <p:spPr/>
        <p:txBody>
          <a:bodyPr vert="eaVert"/>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200118F5-5176-422C-8DC4-803F0F1250AD}"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type="vertTitleAndTx" preserve="1">
  <p:cSld name="Vertical Title and Text">
    <p:spTree>
      <p:nvGrpSpPr>
        <p:cNvPr id="1" name="" title=""/>
        <p:cNvGrpSpPr/>
        <p:nvPr/>
      </p:nvGrpSpPr>
      <p:grpSpPr>
        <a:xfrm>
          <a:off x="0" y="0"/>
          <a:ext cx="0" cy="0"/>
        </a:xfrm>
      </p:grpSpPr>
      <p:sp>
        <p:nvSpPr>
          <p:cNvPr id="2" name="Vertical Title 1" title=""/>
          <p:cNvSpPr>
            <a:spLocks noGrp="1"/>
          </p:cNvSpPr>
          <p:nvPr>
            <p:ph type="title" orient="vert"/>
          </p:nvPr>
        </p:nvSpPr>
        <p:spPr/>
        <p:txBody>
          <a:bodyPr vert="eaVert"/>
          <a:lstStyle/>
          <a:p>
            <a:r>
              <a:rPr lang="en-US" smtClean="0"/>
              <a:t>Click to edit Master title style</a:t>
            </a:r>
            <a:endParaRPr lang="en-US"/>
          </a:p>
        </p:txBody>
      </p:sp>
      <p:sp>
        <p:nvSpPr>
          <p:cNvPr id="3" name="Vertical Text Placeholder 2" title=""/>
          <p:cNvSpPr>
            <a:spLocks noGrp="1"/>
          </p:cNvSpPr>
          <p:nvPr>
            <p:ph type="body" orient="vert" idx="1"/>
          </p:nvPr>
        </p:nvSpPr>
        <p:spPr/>
        <p:txBody>
          <a:bodyPr vert="eaVert"/>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p:txBody>
          <a:bodyPr/>
          <a:lstStyle/>
          <a:p>
            <a:fld id="{DEEAF0B7-AB39-4757-8F8E-EE3D1902734C}" type="datetimeFigureOut">
              <a:rPr lang="en-US" smtClean="0"/>
              <a:t>11/7/2009</a:t>
            </a:fld>
            <a:endParaRPr lang="en-US"/>
          </a:p>
        </p:txBody>
      </p:sp>
      <p:sp>
        <p:nvSpPr>
          <p:cNvPr id="5" name="Footer Placeholder 4" title=""/>
          <p:cNvSpPr>
            <a:spLocks noGrp="1"/>
          </p:cNvSpPr>
          <p:nvPr>
            <p:ph type="ftr" sz="quarter" idx="3"/>
          </p:nvPr>
        </p:nvSpPr>
        <p:spPr/>
        <p:txBody>
          <a:bodyPr/>
          <a:lstStyle/>
          <a:p>
            <a:endParaRPr lang="en-US"/>
          </a:p>
        </p:txBody>
      </p:sp>
      <p:sp>
        <p:nvSpPr>
          <p:cNvPr id="6" name="Slide Number Placeholder 5" title=""/>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Ref idx="1001">
        <a:schemeClr val="bg1"/>
      </p:bgRef>
    </p:bg>
    <p:spTree>
      <p:nvGrpSpPr>
        <p:cNvPr id="1" name="" title=""/>
        <p:cNvGrpSpPr/>
        <p:nvPr/>
      </p:nvGrpSpPr>
      <p:grpSpPr>
        <a:xfrm>
          <a:off x="0" y="0"/>
          <a:ext cx="0" cy="0"/>
        </a:xfrm>
      </p:grpSpPr>
      <p:sp>
        <p:nvSpPr>
          <p:cNvPr id="2" name="Title Placeholder 1" title=""/>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title=""/>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title=""/>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11/7/2009</a:t>
            </a:fld>
            <a:endParaRPr lang="en-US"/>
          </a:p>
        </p:txBody>
      </p:sp>
      <p:sp>
        <p:nvSpPr>
          <p:cNvPr id="5" name="Footer Placeholder 4" title=""/>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title=""/>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emf" /><Relationship Id="rId3" Type="http://schemas.openxmlformats.org/officeDocument/2006/relationships/image" Target="../media/image2.emf"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slide" Target="slide10.xml" TargetMode="Internal" /><Relationship Id="rId11" Type="http://schemas.openxmlformats.org/officeDocument/2006/relationships/slide" Target="slide11.xml" TargetMode="Internal" /><Relationship Id="rId12" Type="http://schemas.openxmlformats.org/officeDocument/2006/relationships/slide" Target="slide12.xml" TargetMode="Internal" /><Relationship Id="rId13" Type="http://schemas.openxmlformats.org/officeDocument/2006/relationships/slide" Target="slide13.xml" TargetMode="Internal" /><Relationship Id="rId14" Type="http://schemas.openxmlformats.org/officeDocument/2006/relationships/slide" Target="slide14.xml" TargetMode="Internal" /><Relationship Id="rId15" Type="http://schemas.openxmlformats.org/officeDocument/2006/relationships/slide" Target="slide15.xml" TargetMode="Internal" /><Relationship Id="rId16" Type="http://schemas.openxmlformats.org/officeDocument/2006/relationships/slide" Target="slide17.xml" TargetMode="Internal" /><Relationship Id="rId17" Type="http://schemas.openxmlformats.org/officeDocument/2006/relationships/slide" Target="slide18.xml" TargetMode="Internal" /><Relationship Id="rId18" Type="http://schemas.openxmlformats.org/officeDocument/2006/relationships/slide" Target="slide19.xml" TargetMode="Internal" /><Relationship Id="rId19" Type="http://schemas.openxmlformats.org/officeDocument/2006/relationships/slide" Target="slide20.xml" TargetMode="Internal" /><Relationship Id="rId2" Type="http://schemas.openxmlformats.org/officeDocument/2006/relationships/image" Target="../media/image3.emf" /><Relationship Id="rId20" Type="http://schemas.openxmlformats.org/officeDocument/2006/relationships/slide" Target="slide21.xml" TargetMode="Internal" /><Relationship Id="rId21" Type="http://schemas.openxmlformats.org/officeDocument/2006/relationships/slide" Target="slide22.xml" TargetMode="Internal" /><Relationship Id="rId22" Type="http://schemas.openxmlformats.org/officeDocument/2006/relationships/slide" Target="slide23.xml" TargetMode="Internal" /><Relationship Id="rId23" Type="http://schemas.openxmlformats.org/officeDocument/2006/relationships/slide" Target="slide24.xml" TargetMode="Internal" /><Relationship Id="rId24" Type="http://schemas.openxmlformats.org/officeDocument/2006/relationships/slide" Target="slide26.xml" TargetMode="Internal" /><Relationship Id="rId25" Type="http://schemas.openxmlformats.org/officeDocument/2006/relationships/slide" Target="slide27.xml" TargetMode="Internal" /><Relationship Id="rId26" Type="http://schemas.openxmlformats.org/officeDocument/2006/relationships/slide" Target="slide28.xml" TargetMode="Internal" /><Relationship Id="rId27" Type="http://schemas.openxmlformats.org/officeDocument/2006/relationships/slide" Target="slide29.xml" TargetMode="Internal" /><Relationship Id="rId28" Type="http://schemas.openxmlformats.org/officeDocument/2006/relationships/slide" Target="slide31.xml" TargetMode="Internal" /><Relationship Id="rId29" Type="http://schemas.openxmlformats.org/officeDocument/2006/relationships/slide" Target="slide32.xml" TargetMode="Internal" /><Relationship Id="rId3" Type="http://schemas.openxmlformats.org/officeDocument/2006/relationships/image" Target="../media/image4.emf" /><Relationship Id="rId30" Type="http://schemas.openxmlformats.org/officeDocument/2006/relationships/slide" Target="slide33.xml" TargetMode="Internal" /><Relationship Id="rId31" Type="http://schemas.openxmlformats.org/officeDocument/2006/relationships/slide" Target="slide34.xml" TargetMode="Internal" /><Relationship Id="rId32" Type="http://schemas.openxmlformats.org/officeDocument/2006/relationships/slide" Target="slide35.xml" TargetMode="Internal" /><Relationship Id="rId33" Type="http://schemas.openxmlformats.org/officeDocument/2006/relationships/slide" Target="slide36.xml" TargetMode="Internal" /><Relationship Id="rId4" Type="http://schemas.openxmlformats.org/officeDocument/2006/relationships/image" Target="../media/image5.emf" /><Relationship Id="rId5" Type="http://schemas.openxmlformats.org/officeDocument/2006/relationships/slide" Target="slide4.xml" TargetMode="Internal" /><Relationship Id="rId6" Type="http://schemas.openxmlformats.org/officeDocument/2006/relationships/slide" Target="slide5.xml" TargetMode="Internal" /><Relationship Id="rId7" Type="http://schemas.openxmlformats.org/officeDocument/2006/relationships/slide" Target="slide6.xml" TargetMode="Internal" /><Relationship Id="rId8" Type="http://schemas.openxmlformats.org/officeDocument/2006/relationships/slide" Target="slide7.xml" TargetMode="Internal" /><Relationship Id="rId9" Type="http://schemas.openxmlformats.org/officeDocument/2006/relationships/slide" Target="slide9.xml" TargetMode="Interna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82601/measles-cases-worldwide-by-region" TargetMode="External" /><Relationship Id="rId6" Type="http://schemas.openxmlformats.org/officeDocument/2006/relationships/chart" Target="../charts/chart1.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211156/measles-incidence-rate-worldwide-by-region" TargetMode="External" /><Relationship Id="rId6" Type="http://schemas.openxmlformats.org/officeDocument/2006/relationships/chart" Target="../charts/chart2.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82608/measles-deaths-worldwide-by-region" TargetMode="External" /><Relationship Id="rId6" Type="http://schemas.openxmlformats.org/officeDocument/2006/relationships/chart" Target="../charts/chart3.xml"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82647/measles-mortality-percentage-change-worldwide-by-region" TargetMode="External" /><Relationship Id="rId6" Type="http://schemas.openxmlformats.org/officeDocument/2006/relationships/chart" Target="../charts/chart4.xml"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94320/contagious-virus-concern-us" TargetMode="External" /><Relationship Id="rId6" Type="http://schemas.openxmlformats.org/officeDocument/2006/relationships/chart" Target="../charts/chart5.xml"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94632/measles-concern-us" TargetMode="External" /><Relationship Id="rId6" Type="http://schemas.openxmlformats.org/officeDocument/2006/relationships/chart" Target="../charts/chart6.xml"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094641/measles-concern-by-age-us" TargetMode="External" /><Relationship Id="rId6" Type="http://schemas.openxmlformats.org/officeDocument/2006/relationships/chart" Target="../charts/chart7.xml"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86409/cases-of-measles-in-the-us-since-1950" TargetMode="External" /><Relationship Id="rId6" Type="http://schemas.openxmlformats.org/officeDocument/2006/relationships/chart" Target="../charts/chart8.xml"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1.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86678/new-cases-of-measles-in-the-us-since-1950" TargetMode="External" /><Relationship Id="rId6" Type="http://schemas.openxmlformats.org/officeDocument/2006/relationships/chart" Target="../charts/chart9.xml" /><Relationship Id="rId7" Type="http://schemas.openxmlformats.org/officeDocument/2006/relationships/image" Target="../media/image7.png" /><Relationship Id="rId8" Type="http://schemas.openxmlformats.org/officeDocument/2006/relationships/oleObject" Target="../embeddings/oleObject10.bin" TargetMode="Internal" /><Relationship Id="rId9" Type="http://schemas.openxmlformats.org/officeDocument/2006/relationships/image" Target="../media/image8.png"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560811/number-measles-cases-per-week" TargetMode="External" /><Relationship Id="rId6" Type="http://schemas.openxmlformats.org/officeDocument/2006/relationships/chart" Target="../charts/chart10.xml"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560955/measles-death-rate-in-the-us-since-1919" TargetMode="External" /><Relationship Id="rId6" Type="http://schemas.openxmlformats.org/officeDocument/2006/relationships/chart" Target="../charts/chart11.xml"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469710/number-measles-cases-in-the-us-by-age" TargetMode="External" /><Relationship Id="rId6" Type="http://schemas.openxmlformats.org/officeDocument/2006/relationships/chart" Target="../charts/chart12.xml"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560807/number-measles-cases-by-age" TargetMode="External" /><Relationship Id="rId6" Type="http://schemas.openxmlformats.org/officeDocument/2006/relationships/chart" Target="../charts/chart13.xml" /></Relationships>
</file>

<file path=ppt/slides/_rels/slide1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469718/measles-cases-number-in-the-us-by-vaccination-status" TargetMode="External" /><Relationship Id="rId6" Type="http://schemas.openxmlformats.org/officeDocument/2006/relationships/chart" Target="../charts/chart14.xml" /></Relationships>
</file>

<file path=ppt/slides/_rels/slide2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560808/distribution-measles-cases-by-vaccination-status" TargetMode="External" /><Relationship Id="rId6" Type="http://schemas.openxmlformats.org/officeDocument/2006/relationships/chart" Target="../charts/chart15.xml" /></Relationships>
</file>

<file path=ppt/slides/_rels/slide21.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2.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560812/number-measles-cases-by-state" TargetMode="External" /><Relationship Id="rId6" Type="http://schemas.openxmlformats.org/officeDocument/2006/relationships/chart" Target="../charts/chart16.xml" /><Relationship Id="rId7" Type="http://schemas.openxmlformats.org/officeDocument/2006/relationships/image" Target="../media/image7.png" /><Relationship Id="rId8" Type="http://schemas.openxmlformats.org/officeDocument/2006/relationships/oleObject" Target="../embeddings/oleObject18.bin" TargetMode="Internal" /><Relationship Id="rId9" Type="http://schemas.openxmlformats.org/officeDocument/2006/relationships/image" Target="../media/image8.png" /></Relationships>
</file>

<file path=ppt/slides/_rels/slide22.xml.rels>&#65279;<?xml version="1.0" encoding="utf-8" standalone="yes"?><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image" Target="../media/image9.png" /><Relationship Id="rId11" Type="http://schemas.openxmlformats.org/officeDocument/2006/relationships/vmlDrawing" Target="../drawings/vmlDrawing3.v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560813/number-measles-cases-by-state" TargetMode="External" /><Relationship Id="rId6" Type="http://schemas.openxmlformats.org/officeDocument/2006/relationships/chart" Target="../charts/chart17.xml" /><Relationship Id="rId7" Type="http://schemas.openxmlformats.org/officeDocument/2006/relationships/image" Target="../media/image7.png" /><Relationship Id="rId8" Type="http://schemas.openxmlformats.org/officeDocument/2006/relationships/oleObject" Target="../embeddings/oleObject20.bin" TargetMode="Internal" /><Relationship Id="rId9" Type="http://schemas.openxmlformats.org/officeDocument/2006/relationships/image" Target="../media/image8.png" /></Relationships>
</file>

<file path=ppt/slides/_rels/slide2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560809/percentage-measles-cases-hospitalized" TargetMode="External" /><Relationship Id="rId6" Type="http://schemas.openxmlformats.org/officeDocument/2006/relationships/chart" Target="../charts/chart18.xml" /></Relationships>
</file>

<file path=ppt/slides/_rels/slide2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560810/percentage-measles-cases-hospitalized-by-age" TargetMode="External" /><Relationship Id="rId6" Type="http://schemas.openxmlformats.org/officeDocument/2006/relationships/chart" Target="../charts/chart19.xml" /></Relationships>
</file>

<file path=ppt/slides/_rels/slide2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2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663873/infectious-disease-cases-before-and-after-use-of-vaccination-us" TargetMode="External" /></Relationships>
</file>

<file path=ppt/slides/_rels/slide2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324415/mmr-vaccination-rate-among-us-children-before-24-months" TargetMode="External" /><Relationship Id="rId6" Type="http://schemas.openxmlformats.org/officeDocument/2006/relationships/chart" Target="../charts/chart20.xml" /></Relationships>
</file>

<file path=ppt/slides/_rels/slide28.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653233/teens-with-select-vaccinations-united-states" TargetMode="External" /><Relationship Id="rId6" Type="http://schemas.openxmlformats.org/officeDocument/2006/relationships/chart" Target="../charts/chart21.xml" /></Relationships>
</file>

<file path=ppt/slides/_rels/slide29.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913650/vaccination-coverage-adolescents-by-age-us" TargetMode="External" /><Relationship Id="rId6" Type="http://schemas.openxmlformats.org/officeDocument/2006/relationships/chart" Target="../charts/chart22.xml" /></Relationships>
</file>

<file path=ppt/slides/_rels/slide30.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6.emf" /></Relationships>
</file>

<file path=ppt/slides/_rels/slide31.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419019/us-adults-felt-benefits-of-childhood-mmr-vaccine-outweigh-risks" TargetMode="External" /><Relationship Id="rId6" Type="http://schemas.openxmlformats.org/officeDocument/2006/relationships/chart" Target="../charts/chart23.xml" /></Relationships>
</file>

<file path=ppt/slides/_rels/slide32.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560956/measles-vaccine-more-dangerous-than-measles-us-adults" TargetMode="External" /><Relationship Id="rId6" Type="http://schemas.openxmlformats.org/officeDocument/2006/relationships/chart" Target="../charts/chart24.xml" /></Relationships>
</file>

<file path=ppt/slides/_rels/slide33.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560957/measles-vaccine-more-dangerous-than-measles-us-by-party-id" TargetMode="External" /><Relationship Id="rId6" Type="http://schemas.openxmlformats.org/officeDocument/2006/relationships/chart" Target="../charts/chart25.xml" /></Relationships>
</file>

<file path=ppt/slides/_rels/slide34.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560958/measles-vaccine-more-dangerous-than-measles-us-by-education" TargetMode="External" /><Relationship Id="rId6" Type="http://schemas.openxmlformats.org/officeDocument/2006/relationships/chart" Target="../charts/chart26.xml" /></Relationships>
</file>

<file path=ppt/slides/_rels/slide35.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560959/agreement-no-link-between-measles-vaccine-and-autism" TargetMode="External" /><Relationship Id="rId6" Type="http://schemas.openxmlformats.org/officeDocument/2006/relationships/chart" Target="../charts/chart27.xml" /></Relationships>
</file>

<file path=ppt/slides/_rels/slide36.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 Id="rId5" Type="http://schemas.openxmlformats.org/officeDocument/2006/relationships/hyperlink" Target="http://www.statista.com/statistics/1560960/belief-that-mmr-vaccines-cause-autism" TargetMode="External" /><Relationship Id="rId6" Type="http://schemas.openxmlformats.org/officeDocument/2006/relationships/chart" Target="../charts/chart28.xml" /></Relationships>
</file>

<file path=ppt/slides/_rels/slide37.xml.rels>&#65279;<?xml version="1.0" encoding="utf-8" standalone="yes"?><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3.emf" /><Relationship Id="rId3" Type="http://schemas.openxmlformats.org/officeDocument/2006/relationships/image" Target="../media/image4.emf" /><Relationship Id="rId4" Type="http://schemas.openxmlformats.org/officeDocument/2006/relationships/image" Target="../media/image5.emf"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5" name="New shape" title=""/>
          <p:cNvSpPr/>
          <p:nvPr/>
        </p:nvSpPr>
        <p:spPr>
          <a:xfrm>
            <a:off x="74196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4" name="New shape" title=""/>
          <p:cNvSpPr/>
          <p:nvPr/>
        </p:nvSpPr>
        <p:spPr>
          <a:xfrm>
            <a:off x="583200" y="6231600"/>
            <a:ext cx="1461600" cy="2880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POLITICS &amp; SOCIETY</a:t>
            </a:r>
          </a:p>
        </p:txBody>
      </p:sp>
      <p:sp>
        <p:nvSpPr>
          <p:cNvPr id="3"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Measles in the U.S.</a:t>
            </a:r>
          </a:p>
        </p:txBody>
      </p:sp>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6"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5"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4"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Table of Contents</a:t>
            </a:r>
          </a:p>
        </p:txBody>
      </p:sp>
      <p:sp>
        <p:nvSpPr>
          <p:cNvPr id="3"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a:t>
            </a:r>
          </a:p>
        </p:txBody>
      </p:sp>
      <p:sp>
        <p:nvSpPr>
          <p:cNvPr id="7" name="New shape" title=""/>
          <p:cNvSpPr/>
          <p:nvPr/>
        </p:nvSpPr>
        <p:spPr>
          <a:xfrm>
            <a:off x="586800" y="1882800"/>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01 Worldwide overview</a:t>
            </a:r>
          </a:p>
        </p:txBody>
      </p:sp>
      <p:sp>
        <p:nvSpPr>
          <p:cNvPr id="8" name="New shape" title=""/>
          <p:cNvSpPr/>
          <p:nvPr/>
        </p:nvSpPr>
        <p:spPr>
          <a:xfrm>
            <a:off x="5544000" y="211624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5" action="ppaction://hlinksldjump">
                  <a:extLst>
                    <a:ext uri="{A12FA001-AC4F-418D-AE19-62706E023703}">
                      <ahyp:hlinkClr xmlns:ahyp="http://schemas.microsoft.com/office/drawing/2018/hyperlinkcolor" val="tx"/>
                    </a:ext>
                  </a:extLst>
                </a:hlinkClick>
              </a:rPr>
              <a:t>03</a:t>
            </a:r>
          </a:p>
        </p:txBody>
      </p:sp>
      <p:sp>
        <p:nvSpPr>
          <p:cNvPr id="9" name="New shape" title=""/>
          <p:cNvSpPr/>
          <p:nvPr/>
        </p:nvSpPr>
        <p:spPr>
          <a:xfrm>
            <a:off x="586800" y="211624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Estimated number of measles cases worldwide in 2000 and 2023, by region</a:t>
            </a:r>
          </a:p>
        </p:txBody>
      </p:sp>
      <p:sp>
        <p:nvSpPr>
          <p:cNvPr id="10" name="New shape" title=""/>
          <p:cNvSpPr/>
          <p:nvPr/>
        </p:nvSpPr>
        <p:spPr>
          <a:xfrm>
            <a:off x="5544000" y="228652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6" action="ppaction://hlinksldjump">
                  <a:extLst>
                    <a:ext uri="{A12FA001-AC4F-418D-AE19-62706E023703}">
                      <ahyp:hlinkClr xmlns:ahyp="http://schemas.microsoft.com/office/drawing/2018/hyperlinkcolor" val="tx"/>
                    </a:ext>
                  </a:extLst>
                </a:hlinkClick>
              </a:rPr>
              <a:t>04</a:t>
            </a:r>
          </a:p>
        </p:txBody>
      </p:sp>
      <p:sp>
        <p:nvSpPr>
          <p:cNvPr id="11" name="New shape" title=""/>
          <p:cNvSpPr/>
          <p:nvPr/>
        </p:nvSpPr>
        <p:spPr>
          <a:xfrm>
            <a:off x="586800" y="228652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Measles incidence rate worldwide in 2000 and 2023, by region</a:t>
            </a:r>
          </a:p>
        </p:txBody>
      </p:sp>
      <p:sp>
        <p:nvSpPr>
          <p:cNvPr id="12" name="New shape" title=""/>
          <p:cNvSpPr/>
          <p:nvPr/>
        </p:nvSpPr>
        <p:spPr>
          <a:xfrm>
            <a:off x="5544000" y="245679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7" action="ppaction://hlinksldjump">
                  <a:extLst>
                    <a:ext uri="{A12FA001-AC4F-418D-AE19-62706E023703}">
                      <ahyp:hlinkClr xmlns:ahyp="http://schemas.microsoft.com/office/drawing/2018/hyperlinkcolor" val="tx"/>
                    </a:ext>
                  </a:extLst>
                </a:hlinkClick>
              </a:rPr>
              <a:t>05</a:t>
            </a:r>
          </a:p>
        </p:txBody>
      </p:sp>
      <p:sp>
        <p:nvSpPr>
          <p:cNvPr id="13" name="New shape" title=""/>
          <p:cNvSpPr/>
          <p:nvPr/>
        </p:nvSpPr>
        <p:spPr>
          <a:xfrm>
            <a:off x="586800" y="245679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Estimated number of measles deaths worldwide in 2000 and 2023, by region</a:t>
            </a:r>
          </a:p>
        </p:txBody>
      </p:sp>
      <p:sp>
        <p:nvSpPr>
          <p:cNvPr id="14" name="New shape" title=""/>
          <p:cNvSpPr/>
          <p:nvPr/>
        </p:nvSpPr>
        <p:spPr>
          <a:xfrm>
            <a:off x="5544000" y="262707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8" action="ppaction://hlinksldjump">
                  <a:extLst>
                    <a:ext uri="{A12FA001-AC4F-418D-AE19-62706E023703}">
                      <ahyp:hlinkClr xmlns:ahyp="http://schemas.microsoft.com/office/drawing/2018/hyperlinkcolor" val="tx"/>
                    </a:ext>
                  </a:extLst>
                </a:hlinkClick>
              </a:rPr>
              <a:t>06</a:t>
            </a:r>
          </a:p>
        </p:txBody>
      </p:sp>
      <p:sp>
        <p:nvSpPr>
          <p:cNvPr id="15" name="New shape" title=""/>
          <p:cNvSpPr/>
          <p:nvPr/>
        </p:nvSpPr>
        <p:spPr>
          <a:xfrm>
            <a:off x="586800" y="262707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Measles mortality percentage change worldwide 2000-2023, by region</a:t>
            </a:r>
          </a:p>
        </p:txBody>
      </p:sp>
      <p:sp>
        <p:nvSpPr>
          <p:cNvPr id="16" name="New shape" title=""/>
          <p:cNvSpPr/>
          <p:nvPr/>
        </p:nvSpPr>
        <p:spPr>
          <a:xfrm>
            <a:off x="586800" y="2924355"/>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02 United States overview</a:t>
            </a:r>
          </a:p>
        </p:txBody>
      </p:sp>
      <p:sp>
        <p:nvSpPr>
          <p:cNvPr id="17" name="New shape" title=""/>
          <p:cNvSpPr/>
          <p:nvPr/>
        </p:nvSpPr>
        <p:spPr>
          <a:xfrm>
            <a:off x="5544000" y="315779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9" action="ppaction://hlinksldjump">
                  <a:extLst>
                    <a:ext uri="{A12FA001-AC4F-418D-AE19-62706E023703}">
                      <ahyp:hlinkClr xmlns:ahyp="http://schemas.microsoft.com/office/drawing/2018/hyperlinkcolor" val="tx"/>
                    </a:ext>
                  </a:extLst>
                </a:hlinkClick>
              </a:rPr>
              <a:t>08</a:t>
            </a:r>
          </a:p>
        </p:txBody>
      </p:sp>
      <p:sp>
        <p:nvSpPr>
          <p:cNvPr id="18" name="New shape" title=""/>
          <p:cNvSpPr/>
          <p:nvPr/>
        </p:nvSpPr>
        <p:spPr>
          <a:xfrm>
            <a:off x="586800" y="315779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U.S. adults' level of concern about various viruses in 2022</a:t>
            </a:r>
          </a:p>
        </p:txBody>
      </p:sp>
      <p:sp>
        <p:nvSpPr>
          <p:cNvPr id="19" name="New shape" title=""/>
          <p:cNvSpPr/>
          <p:nvPr/>
        </p:nvSpPr>
        <p:spPr>
          <a:xfrm>
            <a:off x="5544000" y="332807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0" action="ppaction://hlinksldjump">
                  <a:extLst>
                    <a:ext uri="{A12FA001-AC4F-418D-AE19-62706E023703}">
                      <ahyp:hlinkClr xmlns:ahyp="http://schemas.microsoft.com/office/drawing/2018/hyperlinkcolor" val="tx"/>
                    </a:ext>
                  </a:extLst>
                </a:hlinkClick>
              </a:rPr>
              <a:t>09</a:t>
            </a:r>
          </a:p>
        </p:txBody>
      </p:sp>
      <p:sp>
        <p:nvSpPr>
          <p:cNvPr id="20" name="New shape" title=""/>
          <p:cNvSpPr/>
          <p:nvPr/>
        </p:nvSpPr>
        <p:spPr>
          <a:xfrm>
            <a:off x="586800" y="332807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U.S. adults' level of concern about measles in 2022</a:t>
            </a:r>
          </a:p>
        </p:txBody>
      </p:sp>
      <p:sp>
        <p:nvSpPr>
          <p:cNvPr id="21" name="New shape" title=""/>
          <p:cNvSpPr/>
          <p:nvPr/>
        </p:nvSpPr>
        <p:spPr>
          <a:xfrm>
            <a:off x="5544000" y="349835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1" action="ppaction://hlinksldjump">
                  <a:extLst>
                    <a:ext uri="{A12FA001-AC4F-418D-AE19-62706E023703}">
                      <ahyp:hlinkClr xmlns:ahyp="http://schemas.microsoft.com/office/drawing/2018/hyperlinkcolor" val="tx"/>
                    </a:ext>
                  </a:extLst>
                </a:hlinkClick>
              </a:rPr>
              <a:t>10</a:t>
            </a:r>
          </a:p>
        </p:txBody>
      </p:sp>
      <p:sp>
        <p:nvSpPr>
          <p:cNvPr id="22" name="New shape" title=""/>
          <p:cNvSpPr/>
          <p:nvPr/>
        </p:nvSpPr>
        <p:spPr>
          <a:xfrm>
            <a:off x="586800" y="349835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U.S. adults' level of concern about measles in 2022, by age group</a:t>
            </a:r>
          </a:p>
        </p:txBody>
      </p:sp>
      <p:sp>
        <p:nvSpPr>
          <p:cNvPr id="23" name="New shape" title=""/>
          <p:cNvSpPr/>
          <p:nvPr/>
        </p:nvSpPr>
        <p:spPr>
          <a:xfrm>
            <a:off x="5544000" y="3668632"/>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2" action="ppaction://hlinksldjump">
                  <a:extLst>
                    <a:ext uri="{A12FA001-AC4F-418D-AE19-62706E023703}">
                      <ahyp:hlinkClr xmlns:ahyp="http://schemas.microsoft.com/office/drawing/2018/hyperlinkcolor" val="tx"/>
                    </a:ext>
                  </a:extLst>
                </a:hlinkClick>
              </a:rPr>
              <a:t>11</a:t>
            </a:r>
          </a:p>
        </p:txBody>
      </p:sp>
      <p:sp>
        <p:nvSpPr>
          <p:cNvPr id="24" name="New shape" title=""/>
          <p:cNvSpPr/>
          <p:nvPr/>
        </p:nvSpPr>
        <p:spPr>
          <a:xfrm>
            <a:off x="586800" y="3668632"/>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Rate of new cases of measles in the U.S. 1919-2024</a:t>
            </a:r>
          </a:p>
        </p:txBody>
      </p:sp>
      <p:sp>
        <p:nvSpPr>
          <p:cNvPr id="25" name="New shape" title=""/>
          <p:cNvSpPr/>
          <p:nvPr/>
        </p:nvSpPr>
        <p:spPr>
          <a:xfrm>
            <a:off x="5544000" y="383891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3" action="ppaction://hlinksldjump">
                  <a:extLst>
                    <a:ext uri="{A12FA001-AC4F-418D-AE19-62706E023703}">
                      <ahyp:hlinkClr xmlns:ahyp="http://schemas.microsoft.com/office/drawing/2018/hyperlinkcolor" val="tx"/>
                    </a:ext>
                  </a:extLst>
                </a:hlinkClick>
              </a:rPr>
              <a:t>12</a:t>
            </a:r>
          </a:p>
        </p:txBody>
      </p:sp>
      <p:sp>
        <p:nvSpPr>
          <p:cNvPr id="26" name="New shape" title=""/>
          <p:cNvSpPr/>
          <p:nvPr/>
        </p:nvSpPr>
        <p:spPr>
          <a:xfrm>
            <a:off x="586800" y="383891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New cases of measles in the U.S. 1985-2025</a:t>
            </a:r>
          </a:p>
        </p:txBody>
      </p:sp>
      <p:sp>
        <p:nvSpPr>
          <p:cNvPr id="27" name="New shape" title=""/>
          <p:cNvSpPr/>
          <p:nvPr/>
        </p:nvSpPr>
        <p:spPr>
          <a:xfrm>
            <a:off x="5544000" y="400918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4" action="ppaction://hlinksldjump">
                  <a:extLst>
                    <a:ext uri="{A12FA001-AC4F-418D-AE19-62706E023703}">
                      <ahyp:hlinkClr xmlns:ahyp="http://schemas.microsoft.com/office/drawing/2018/hyperlinkcolor" val="tx"/>
                    </a:ext>
                  </a:extLst>
                </a:hlinkClick>
              </a:rPr>
              <a:t>13</a:t>
            </a:r>
          </a:p>
        </p:txBody>
      </p:sp>
      <p:sp>
        <p:nvSpPr>
          <p:cNvPr id="28" name="New shape" title=""/>
          <p:cNvSpPr/>
          <p:nvPr/>
        </p:nvSpPr>
        <p:spPr>
          <a:xfrm>
            <a:off x="586800" y="400918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Number of measles cases in the U.S. per week from 2023 to 2025</a:t>
            </a:r>
          </a:p>
        </p:txBody>
      </p:sp>
      <p:sp>
        <p:nvSpPr>
          <p:cNvPr id="29" name="New shape" title=""/>
          <p:cNvSpPr/>
          <p:nvPr/>
        </p:nvSpPr>
        <p:spPr>
          <a:xfrm>
            <a:off x="5544000" y="417946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5" action="ppaction://hlinksldjump">
                  <a:extLst>
                    <a:ext uri="{A12FA001-AC4F-418D-AE19-62706E023703}">
                      <ahyp:hlinkClr xmlns:ahyp="http://schemas.microsoft.com/office/drawing/2018/hyperlinkcolor" val="tx"/>
                    </a:ext>
                  </a:extLst>
                </a:hlinkClick>
              </a:rPr>
              <a:t>14</a:t>
            </a:r>
          </a:p>
        </p:txBody>
      </p:sp>
      <p:sp>
        <p:nvSpPr>
          <p:cNvPr id="30" name="New shape" title=""/>
          <p:cNvSpPr/>
          <p:nvPr/>
        </p:nvSpPr>
        <p:spPr>
          <a:xfrm>
            <a:off x="586800" y="417946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Measles death rate in the U.S. 1919-2021</a:t>
            </a:r>
          </a:p>
        </p:txBody>
      </p:sp>
      <p:sp>
        <p:nvSpPr>
          <p:cNvPr id="31" name="New shape" title=""/>
          <p:cNvSpPr/>
          <p:nvPr/>
        </p:nvSpPr>
        <p:spPr>
          <a:xfrm>
            <a:off x="586800" y="4476744"/>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03 Case breakdowns</a:t>
            </a:r>
          </a:p>
        </p:txBody>
      </p:sp>
      <p:sp>
        <p:nvSpPr>
          <p:cNvPr id="32" name="New shape" title=""/>
          <p:cNvSpPr/>
          <p:nvPr/>
        </p:nvSpPr>
        <p:spPr>
          <a:xfrm>
            <a:off x="5544000" y="471018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6" action="ppaction://hlinksldjump">
                  <a:extLst>
                    <a:ext uri="{A12FA001-AC4F-418D-AE19-62706E023703}">
                      <ahyp:hlinkClr xmlns:ahyp="http://schemas.microsoft.com/office/drawing/2018/hyperlinkcolor" val="tx"/>
                    </a:ext>
                  </a:extLst>
                </a:hlinkClick>
              </a:rPr>
              <a:t>16</a:t>
            </a:r>
          </a:p>
        </p:txBody>
      </p:sp>
      <p:sp>
        <p:nvSpPr>
          <p:cNvPr id="33" name="New shape" title=""/>
          <p:cNvSpPr/>
          <p:nvPr/>
        </p:nvSpPr>
        <p:spPr>
          <a:xfrm>
            <a:off x="586800" y="471018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Number of measles cases reported in the U.S. from 2020 to 2024, by age</a:t>
            </a:r>
          </a:p>
        </p:txBody>
      </p:sp>
      <p:sp>
        <p:nvSpPr>
          <p:cNvPr id="34" name="New shape" title=""/>
          <p:cNvSpPr/>
          <p:nvPr/>
        </p:nvSpPr>
        <p:spPr>
          <a:xfrm>
            <a:off x="5544000" y="4880465"/>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7" action="ppaction://hlinksldjump">
                  <a:extLst>
                    <a:ext uri="{A12FA001-AC4F-418D-AE19-62706E023703}">
                      <ahyp:hlinkClr xmlns:ahyp="http://schemas.microsoft.com/office/drawing/2018/hyperlinkcolor" val="tx"/>
                    </a:ext>
                  </a:extLst>
                </a:hlinkClick>
              </a:rPr>
              <a:t>17</a:t>
            </a:r>
          </a:p>
        </p:txBody>
      </p:sp>
      <p:sp>
        <p:nvSpPr>
          <p:cNvPr id="35" name="New shape" title=""/>
          <p:cNvSpPr/>
          <p:nvPr/>
        </p:nvSpPr>
        <p:spPr>
          <a:xfrm>
            <a:off x="586800" y="4880465"/>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Number of measles cases in the U.S. in 2024 and 2025, by age</a:t>
            </a:r>
          </a:p>
        </p:txBody>
      </p:sp>
      <p:sp>
        <p:nvSpPr>
          <p:cNvPr id="36" name="New shape" title=""/>
          <p:cNvSpPr/>
          <p:nvPr/>
        </p:nvSpPr>
        <p:spPr>
          <a:xfrm>
            <a:off x="5544000" y="505074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8" action="ppaction://hlinksldjump">
                  <a:extLst>
                    <a:ext uri="{A12FA001-AC4F-418D-AE19-62706E023703}">
                      <ahyp:hlinkClr xmlns:ahyp="http://schemas.microsoft.com/office/drawing/2018/hyperlinkcolor" val="tx"/>
                    </a:ext>
                  </a:extLst>
                </a:hlinkClick>
              </a:rPr>
              <a:t>18</a:t>
            </a:r>
          </a:p>
        </p:txBody>
      </p:sp>
      <p:sp>
        <p:nvSpPr>
          <p:cNvPr id="37" name="New shape" title=""/>
          <p:cNvSpPr/>
          <p:nvPr/>
        </p:nvSpPr>
        <p:spPr>
          <a:xfrm>
            <a:off x="586800" y="505074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Number of measles cases reported in the U.S. from 2020-2024, by vaccination status</a:t>
            </a:r>
          </a:p>
        </p:txBody>
      </p:sp>
      <p:sp>
        <p:nvSpPr>
          <p:cNvPr id="38" name="New shape" title=""/>
          <p:cNvSpPr/>
          <p:nvPr/>
        </p:nvSpPr>
        <p:spPr>
          <a:xfrm>
            <a:off x="5544000" y="522102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19" action="ppaction://hlinksldjump">
                  <a:extLst>
                    <a:ext uri="{A12FA001-AC4F-418D-AE19-62706E023703}">
                      <ahyp:hlinkClr xmlns:ahyp="http://schemas.microsoft.com/office/drawing/2018/hyperlinkcolor" val="tx"/>
                    </a:ext>
                  </a:extLst>
                </a:hlinkClick>
              </a:rPr>
              <a:t>19</a:t>
            </a:r>
          </a:p>
        </p:txBody>
      </p:sp>
      <p:sp>
        <p:nvSpPr>
          <p:cNvPr id="39" name="New shape" title=""/>
          <p:cNvSpPr/>
          <p:nvPr/>
        </p:nvSpPr>
        <p:spPr>
          <a:xfrm>
            <a:off x="586800" y="522102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Distribution of measles cases in the U.S. in 2024 and 2025, by vaccination status</a:t>
            </a:r>
          </a:p>
        </p:txBody>
      </p:sp>
      <p:sp>
        <p:nvSpPr>
          <p:cNvPr id="40" name="New shape" title=""/>
          <p:cNvSpPr/>
          <p:nvPr/>
        </p:nvSpPr>
        <p:spPr>
          <a:xfrm>
            <a:off x="5544000" y="5391299"/>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0" action="ppaction://hlinksldjump">
                  <a:extLst>
                    <a:ext uri="{A12FA001-AC4F-418D-AE19-62706E023703}">
                      <ahyp:hlinkClr xmlns:ahyp="http://schemas.microsoft.com/office/drawing/2018/hyperlinkcolor" val="tx"/>
                    </a:ext>
                  </a:extLst>
                </a:hlinkClick>
              </a:rPr>
              <a:t>20</a:t>
            </a:r>
          </a:p>
        </p:txBody>
      </p:sp>
      <p:sp>
        <p:nvSpPr>
          <p:cNvPr id="41" name="New shape" title=""/>
          <p:cNvSpPr/>
          <p:nvPr/>
        </p:nvSpPr>
        <p:spPr>
          <a:xfrm>
            <a:off x="586800" y="5391299"/>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Number of measles cases in the U.S. in 2024, by state</a:t>
            </a:r>
          </a:p>
        </p:txBody>
      </p:sp>
      <p:sp>
        <p:nvSpPr>
          <p:cNvPr id="42" name="New shape" title=""/>
          <p:cNvSpPr/>
          <p:nvPr/>
        </p:nvSpPr>
        <p:spPr>
          <a:xfrm>
            <a:off x="10915200" y="188280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1" action="ppaction://hlinksldjump">
                  <a:extLst>
                    <a:ext uri="{A12FA001-AC4F-418D-AE19-62706E023703}">
                      <ahyp:hlinkClr xmlns:ahyp="http://schemas.microsoft.com/office/drawing/2018/hyperlinkcolor" val="tx"/>
                    </a:ext>
                  </a:extLst>
                </a:hlinkClick>
              </a:rPr>
              <a:t>21</a:t>
            </a:r>
          </a:p>
        </p:txBody>
      </p:sp>
      <p:sp>
        <p:nvSpPr>
          <p:cNvPr id="43" name="New shape" title=""/>
          <p:cNvSpPr/>
          <p:nvPr/>
        </p:nvSpPr>
        <p:spPr>
          <a:xfrm>
            <a:off x="5958000" y="188280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Number of measles cases in the U.S. in 2025, by state</a:t>
            </a:r>
          </a:p>
        </p:txBody>
      </p:sp>
      <p:sp>
        <p:nvSpPr>
          <p:cNvPr id="44" name="New shape" title=""/>
          <p:cNvSpPr/>
          <p:nvPr/>
        </p:nvSpPr>
        <p:spPr>
          <a:xfrm>
            <a:off x="10915200" y="205307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2" action="ppaction://hlinksldjump">
                  <a:extLst>
                    <a:ext uri="{A12FA001-AC4F-418D-AE19-62706E023703}">
                      <ahyp:hlinkClr xmlns:ahyp="http://schemas.microsoft.com/office/drawing/2018/hyperlinkcolor" val="tx"/>
                    </a:ext>
                  </a:extLst>
                </a:hlinkClick>
              </a:rPr>
              <a:t>22</a:t>
            </a:r>
          </a:p>
        </p:txBody>
      </p:sp>
      <p:sp>
        <p:nvSpPr>
          <p:cNvPr id="45" name="New shape" title=""/>
          <p:cNvSpPr/>
          <p:nvPr/>
        </p:nvSpPr>
        <p:spPr>
          <a:xfrm>
            <a:off x="5958000" y="205307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Share of measles cases in the U.S. that were hospitalized in 2024 and 2025</a:t>
            </a:r>
          </a:p>
        </p:txBody>
      </p:sp>
      <p:sp>
        <p:nvSpPr>
          <p:cNvPr id="46" name="New shape" title=""/>
          <p:cNvSpPr/>
          <p:nvPr/>
        </p:nvSpPr>
        <p:spPr>
          <a:xfrm>
            <a:off x="10915200" y="222335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3" action="ppaction://hlinksldjump">
                  <a:extLst>
                    <a:ext uri="{A12FA001-AC4F-418D-AE19-62706E023703}">
                      <ahyp:hlinkClr xmlns:ahyp="http://schemas.microsoft.com/office/drawing/2018/hyperlinkcolor" val="tx"/>
                    </a:ext>
                  </a:extLst>
                </a:hlinkClick>
              </a:rPr>
              <a:t>23</a:t>
            </a:r>
          </a:p>
        </p:txBody>
      </p:sp>
      <p:sp>
        <p:nvSpPr>
          <p:cNvPr id="47" name="New shape" title=""/>
          <p:cNvSpPr/>
          <p:nvPr/>
        </p:nvSpPr>
        <p:spPr>
          <a:xfrm>
            <a:off x="5958000" y="222335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Share of measles cases in the U.S. that were hospitalized in 2024 and 2025, by age</a:t>
            </a:r>
          </a:p>
        </p:txBody>
      </p:sp>
      <p:sp>
        <p:nvSpPr>
          <p:cNvPr id="48" name="New shape" title=""/>
          <p:cNvSpPr/>
          <p:nvPr/>
        </p:nvSpPr>
        <p:spPr>
          <a:xfrm>
            <a:off x="5958000" y="2520634"/>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04 Vaccinations</a:t>
            </a:r>
          </a:p>
        </p:txBody>
      </p:sp>
      <p:sp>
        <p:nvSpPr>
          <p:cNvPr id="49" name="New shape" title=""/>
          <p:cNvSpPr/>
          <p:nvPr/>
        </p:nvSpPr>
        <p:spPr>
          <a:xfrm>
            <a:off x="10915200" y="2754077"/>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4" action="ppaction://hlinksldjump">
                  <a:extLst>
                    <a:ext uri="{A12FA001-AC4F-418D-AE19-62706E023703}">
                      <ahyp:hlinkClr xmlns:ahyp="http://schemas.microsoft.com/office/drawing/2018/hyperlinkcolor" val="tx"/>
                    </a:ext>
                  </a:extLst>
                </a:hlinkClick>
              </a:rPr>
              <a:t>25</a:t>
            </a:r>
          </a:p>
        </p:txBody>
      </p:sp>
      <p:sp>
        <p:nvSpPr>
          <p:cNvPr id="50" name="New shape" title=""/>
          <p:cNvSpPr/>
          <p:nvPr/>
        </p:nvSpPr>
        <p:spPr>
          <a:xfrm>
            <a:off x="5958000" y="2754077"/>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Cases of infectious diseases before and after the use of vaccines U.S. 2022</a:t>
            </a:r>
          </a:p>
        </p:txBody>
      </p:sp>
      <p:sp>
        <p:nvSpPr>
          <p:cNvPr id="51" name="New shape" title=""/>
          <p:cNvSpPr/>
          <p:nvPr/>
        </p:nvSpPr>
        <p:spPr>
          <a:xfrm>
            <a:off x="10915200" y="2924355"/>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5" action="ppaction://hlinksldjump">
                  <a:extLst>
                    <a:ext uri="{A12FA001-AC4F-418D-AE19-62706E023703}">
                      <ahyp:hlinkClr xmlns:ahyp="http://schemas.microsoft.com/office/drawing/2018/hyperlinkcolor" val="tx"/>
                    </a:ext>
                  </a:extLst>
                </a:hlinkClick>
              </a:rPr>
              <a:t>26</a:t>
            </a:r>
          </a:p>
        </p:txBody>
      </p:sp>
      <p:sp>
        <p:nvSpPr>
          <p:cNvPr id="52" name="New shape" title=""/>
          <p:cNvSpPr/>
          <p:nvPr/>
        </p:nvSpPr>
        <p:spPr>
          <a:xfrm>
            <a:off x="5958000" y="2924355"/>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MMR vaccination rate among U.S. children before 24 months 2013-2020</a:t>
            </a:r>
          </a:p>
        </p:txBody>
      </p:sp>
      <p:sp>
        <p:nvSpPr>
          <p:cNvPr id="53" name="New shape" title=""/>
          <p:cNvSpPr/>
          <p:nvPr/>
        </p:nvSpPr>
        <p:spPr>
          <a:xfrm>
            <a:off x="10915200" y="3094633"/>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6" action="ppaction://hlinksldjump">
                  <a:extLst>
                    <a:ext uri="{A12FA001-AC4F-418D-AE19-62706E023703}">
                      <ahyp:hlinkClr xmlns:ahyp="http://schemas.microsoft.com/office/drawing/2018/hyperlinkcolor" val="tx"/>
                    </a:ext>
                  </a:extLst>
                </a:hlinkClick>
              </a:rPr>
              <a:t>27</a:t>
            </a:r>
          </a:p>
        </p:txBody>
      </p:sp>
      <p:sp>
        <p:nvSpPr>
          <p:cNvPr id="54" name="New shape" title=""/>
          <p:cNvSpPr/>
          <p:nvPr/>
        </p:nvSpPr>
        <p:spPr>
          <a:xfrm>
            <a:off x="5958000" y="3094633"/>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Share of U.S. teenagers who had select vaccinations 2022-2023</a:t>
            </a:r>
          </a:p>
        </p:txBody>
      </p:sp>
      <p:sp>
        <p:nvSpPr>
          <p:cNvPr id="55" name="New shape" title=""/>
          <p:cNvSpPr/>
          <p:nvPr/>
        </p:nvSpPr>
        <p:spPr>
          <a:xfrm>
            <a:off x="10915200" y="3264911"/>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7" action="ppaction://hlinksldjump">
                  <a:extLst>
                    <a:ext uri="{A12FA001-AC4F-418D-AE19-62706E023703}">
                      <ahyp:hlinkClr xmlns:ahyp="http://schemas.microsoft.com/office/drawing/2018/hyperlinkcolor" val="tx"/>
                    </a:ext>
                  </a:extLst>
                </a:hlinkClick>
              </a:rPr>
              <a:t>28</a:t>
            </a:r>
          </a:p>
        </p:txBody>
      </p:sp>
      <p:sp>
        <p:nvSpPr>
          <p:cNvPr id="56" name="New shape" title=""/>
          <p:cNvSpPr/>
          <p:nvPr/>
        </p:nvSpPr>
        <p:spPr>
          <a:xfrm>
            <a:off x="5958000" y="3264911"/>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Vaccination coverage among U.S. adolescents as of 2023, by age</a:t>
            </a:r>
          </a:p>
        </p:txBody>
      </p:sp>
      <p:sp>
        <p:nvSpPr>
          <p:cNvPr id="57" name="New shape" title=""/>
          <p:cNvSpPr/>
          <p:nvPr/>
        </p:nvSpPr>
        <p:spPr>
          <a:xfrm>
            <a:off x="5958000" y="3562189"/>
            <a:ext cx="5371200" cy="2307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spAutoFit/>
          </a:bodyPr>
          <a:lstStyle/>
          <a:p>
            <a:pPr algn="l">
              <a:spcAft>
                <a:spcPct val="20000"/>
              </a:spcAft>
            </a:pPr>
            <a:r>
              <a:rPr sz="900">
                <a:solidFill>
                  <a:srgbClr val="0A85E6"/>
                </a:solidFill>
                <a:latin typeface="Open Sans"/>
              </a:rPr>
              <a:t>05 Vaccine hesitancy</a:t>
            </a:r>
          </a:p>
        </p:txBody>
      </p:sp>
      <p:sp>
        <p:nvSpPr>
          <p:cNvPr id="58" name="New shape" title=""/>
          <p:cNvSpPr/>
          <p:nvPr/>
        </p:nvSpPr>
        <p:spPr>
          <a:xfrm>
            <a:off x="10915200" y="3795632"/>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8" action="ppaction://hlinksldjump">
                  <a:extLst>
                    <a:ext uri="{A12FA001-AC4F-418D-AE19-62706E023703}">
                      <ahyp:hlinkClr xmlns:ahyp="http://schemas.microsoft.com/office/drawing/2018/hyperlinkcolor" val="tx"/>
                    </a:ext>
                  </a:extLst>
                </a:hlinkClick>
              </a:rPr>
              <a:t>30</a:t>
            </a:r>
          </a:p>
        </p:txBody>
      </p:sp>
      <p:sp>
        <p:nvSpPr>
          <p:cNvPr id="59" name="New shape" title=""/>
          <p:cNvSpPr/>
          <p:nvPr/>
        </p:nvSpPr>
        <p:spPr>
          <a:xfrm>
            <a:off x="5958000" y="3795632"/>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U.S. adults who felt the benefits of MMR vaccine outweigh risks 2016-2023</a:t>
            </a:r>
          </a:p>
        </p:txBody>
      </p:sp>
      <p:sp>
        <p:nvSpPr>
          <p:cNvPr id="60" name="New shape" title=""/>
          <p:cNvSpPr/>
          <p:nvPr/>
        </p:nvSpPr>
        <p:spPr>
          <a:xfrm>
            <a:off x="10915200" y="3965910"/>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29" action="ppaction://hlinksldjump">
                  <a:extLst>
                    <a:ext uri="{A12FA001-AC4F-418D-AE19-62706E023703}">
                      <ahyp:hlinkClr xmlns:ahyp="http://schemas.microsoft.com/office/drawing/2018/hyperlinkcolor" val="tx"/>
                    </a:ext>
                  </a:extLst>
                </a:hlinkClick>
              </a:rPr>
              <a:t>31</a:t>
            </a:r>
          </a:p>
        </p:txBody>
      </p:sp>
      <p:sp>
        <p:nvSpPr>
          <p:cNvPr id="61" name="New shape" title=""/>
          <p:cNvSpPr/>
          <p:nvPr/>
        </p:nvSpPr>
        <p:spPr>
          <a:xfrm>
            <a:off x="5958000" y="3965910"/>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U.S. adults who thought the measles vaccine is more dangerous than measles, 2024</a:t>
            </a:r>
          </a:p>
        </p:txBody>
      </p:sp>
      <p:sp>
        <p:nvSpPr>
          <p:cNvPr id="62" name="New shape" title=""/>
          <p:cNvSpPr/>
          <p:nvPr/>
        </p:nvSpPr>
        <p:spPr>
          <a:xfrm>
            <a:off x="10915200" y="4136188"/>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0" action="ppaction://hlinksldjump">
                  <a:extLst>
                    <a:ext uri="{A12FA001-AC4F-418D-AE19-62706E023703}">
                      <ahyp:hlinkClr xmlns:ahyp="http://schemas.microsoft.com/office/drawing/2018/hyperlinkcolor" val="tx"/>
                    </a:ext>
                  </a:extLst>
                </a:hlinkClick>
              </a:rPr>
              <a:t>32</a:t>
            </a:r>
          </a:p>
        </p:txBody>
      </p:sp>
      <p:sp>
        <p:nvSpPr>
          <p:cNvPr id="63" name="New shape" title=""/>
          <p:cNvSpPr/>
          <p:nvPr/>
        </p:nvSpPr>
        <p:spPr>
          <a:xfrm>
            <a:off x="5958000" y="4136188"/>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U.S. adults who thought the vaccine is more dangerous than measles, 2024, by party</a:t>
            </a:r>
          </a:p>
        </p:txBody>
      </p:sp>
      <p:sp>
        <p:nvSpPr>
          <p:cNvPr id="64" name="New shape" title=""/>
          <p:cNvSpPr/>
          <p:nvPr/>
        </p:nvSpPr>
        <p:spPr>
          <a:xfrm>
            <a:off x="10915200" y="4306466"/>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1" action="ppaction://hlinksldjump">
                  <a:extLst>
                    <a:ext uri="{A12FA001-AC4F-418D-AE19-62706E023703}">
                      <ahyp:hlinkClr xmlns:ahyp="http://schemas.microsoft.com/office/drawing/2018/hyperlinkcolor" val="tx"/>
                    </a:ext>
                  </a:extLst>
                </a:hlinkClick>
              </a:rPr>
              <a:t>33</a:t>
            </a:r>
          </a:p>
        </p:txBody>
      </p:sp>
      <p:sp>
        <p:nvSpPr>
          <p:cNvPr id="65" name="New shape" title=""/>
          <p:cNvSpPr/>
          <p:nvPr/>
        </p:nvSpPr>
        <p:spPr>
          <a:xfrm>
            <a:off x="5958000" y="4306466"/>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U.S. adults who thought the vaccine is more dangerous than measles by education, 2024</a:t>
            </a:r>
          </a:p>
        </p:txBody>
      </p:sp>
      <p:sp>
        <p:nvSpPr>
          <p:cNvPr id="66" name="New shape" title=""/>
          <p:cNvSpPr/>
          <p:nvPr/>
        </p:nvSpPr>
        <p:spPr>
          <a:xfrm>
            <a:off x="10915200" y="4476744"/>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2" action="ppaction://hlinksldjump">
                  <a:extLst>
                    <a:ext uri="{A12FA001-AC4F-418D-AE19-62706E023703}">
                      <ahyp:hlinkClr xmlns:ahyp="http://schemas.microsoft.com/office/drawing/2018/hyperlinkcolor" val="tx"/>
                    </a:ext>
                  </a:extLst>
                </a:hlinkClick>
              </a:rPr>
              <a:t>34</a:t>
            </a:r>
          </a:p>
        </p:txBody>
      </p:sp>
      <p:sp>
        <p:nvSpPr>
          <p:cNvPr id="67" name="New shape" title=""/>
          <p:cNvSpPr/>
          <p:nvPr/>
        </p:nvSpPr>
        <p:spPr>
          <a:xfrm>
            <a:off x="5958000" y="4476744"/>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Share of U.S. adults agreeing there's no link between measles vaccine and autism 2024</a:t>
            </a:r>
          </a:p>
        </p:txBody>
      </p:sp>
      <p:sp>
        <p:nvSpPr>
          <p:cNvPr id="68" name="New shape" title=""/>
          <p:cNvSpPr/>
          <p:nvPr/>
        </p:nvSpPr>
        <p:spPr>
          <a:xfrm>
            <a:off x="10915200" y="4647022"/>
            <a:ext cx="414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700">
                <a:solidFill>
                  <a:srgbClr val="0F2741"/>
                </a:solidFill>
                <a:latin typeface="Open Sans"/>
                <a:hlinkClick r:id="rId33" action="ppaction://hlinksldjump">
                  <a:extLst>
                    <a:ext uri="{A12FA001-AC4F-418D-AE19-62706E023703}">
                      <ahyp:hlinkClr xmlns:ahyp="http://schemas.microsoft.com/office/drawing/2018/hyperlinkcolor" val="tx"/>
                    </a:ext>
                  </a:extLst>
                </a:hlinkClick>
              </a:rPr>
              <a:t>35</a:t>
            </a:r>
          </a:p>
        </p:txBody>
      </p:sp>
      <p:sp>
        <p:nvSpPr>
          <p:cNvPr id="69" name="New shape" title=""/>
          <p:cNvSpPr/>
          <p:nvPr/>
        </p:nvSpPr>
        <p:spPr>
          <a:xfrm>
            <a:off x="5958000" y="4647022"/>
            <a:ext cx="49572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700">
                <a:solidFill>
                  <a:srgbClr val="0F2741"/>
                </a:solidFill>
                <a:latin typeface="Open Sans"/>
              </a:rPr>
              <a:t>Share of U.S. adults who thought MMR vaccines cause autism, 2021-2023</a:t>
            </a:r>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Worldwide overview</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01</a:t>
            </a:r>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the year 2000, there were around 8,770 cases of measles in the Americas. This number had decreased to 375 in 2023. This statistic shows the estimated number of measles cases worldwide in 2000 and 2023, by region.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2000 and 2023</a:t>
            </a:r>
          </a:p>
          <a:p>
            <a:r>
              <a:rPr sz="600" b="1">
                <a:solidFill>
                  <a:srgbClr val="0F2741"/>
                </a:solidFill>
                <a:latin typeface="Open Sans"/>
              </a:rPr>
              <a:t>Source(s): </a:t>
            </a:r>
            <a:r>
              <a:rPr sz="600" b="0">
                <a:solidFill>
                  <a:srgbClr val="0F2741"/>
                </a:solidFill>
                <a:latin typeface="Open Sans"/>
              </a:rPr>
              <a:t>CDC; Expert(s) (Minta AA, Ferrari M, Antoni S, et al.); MMWR; WHO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Estimated number of measles cases worldwide in 2000 and 2023, by region</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Estimated number of measles cases worldwide in 2000 and 2023, by region</a:t>
            </a:r>
          </a:p>
        </p:txBody>
      </p:sp>
    </p:spTree>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the year 2000, there were around 821 new cases of measles per one million population in Africa. However, this rate had decreased to 343 new cases per one million population in 2023. This statistic shows the incidence rate of measles worldwide in 2000 and 2023, by region.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2000 and 2023</a:t>
            </a:r>
          </a:p>
          <a:p>
            <a:r>
              <a:rPr sz="600" b="1">
                <a:solidFill>
                  <a:srgbClr val="0F2741"/>
                </a:solidFill>
                <a:latin typeface="Open Sans"/>
              </a:rPr>
              <a:t>Source(s): </a:t>
            </a:r>
            <a:r>
              <a:rPr sz="600" b="0">
                <a:solidFill>
                  <a:srgbClr val="0F2741"/>
                </a:solidFill>
                <a:latin typeface="Open Sans"/>
              </a:rPr>
              <a:t>CDC; Expert(s) (Minta AA, Ferrari M, Antoni S, et al.); MMWR; WHO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4</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Incidence rate of measles worldwide in 2000 and 2023, by region (per one million population)</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Measles incidence rate worldwide in 2000 and 2023, by region</a:t>
            </a:r>
          </a:p>
        </p:txBody>
      </p:sp>
    </p:spTree>
  </p:cSld>
  <p:clrMapOvr>
    <a:masterClrMapping/>
  </p:clrMapOvr>
  <p:transition/>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the year 2000, there were around 3,397 deaths due to measles in Europe. This number dropped to just 222 in 2023. This statistic shows the estimated number of deaths due to measles worldwide in 2000 and 2023, by region.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2000 and 2023</a:t>
            </a:r>
          </a:p>
          <a:p>
            <a:r>
              <a:rPr sz="600" b="1">
                <a:solidFill>
                  <a:srgbClr val="0F2741"/>
                </a:solidFill>
                <a:latin typeface="Open Sans"/>
              </a:rPr>
              <a:t>Source(s): </a:t>
            </a:r>
            <a:r>
              <a:rPr sz="600" b="0">
                <a:solidFill>
                  <a:srgbClr val="0F2741"/>
                </a:solidFill>
                <a:latin typeface="Open Sans"/>
              </a:rPr>
              <a:t>CDC; Expert(s) (Minta AA, Ferrari M, Antoni S, et al.); MMWR; WHO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5</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Estimated number of deaths from measles worldwide in 2000 and 2023, by region</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Estimated number of measles deaths worldwide in 2000 and 2023, by region</a:t>
            </a:r>
          </a:p>
        </p:txBody>
      </p:sp>
    </p:spTree>
  </p:cSld>
  <p:clrMapOvr>
    <a:masterClrMapping/>
  </p:clrMapOvr>
  <p:transition/>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From 2000 to 2023, measles mortality in Africa reduced by 79 percent. Over this period, every region saw a decrease in measles mortality. This statistic shows the percentage change in measles mortality worldwide from 2000 to 2023, by region.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2000 and 2023</a:t>
            </a:r>
          </a:p>
          <a:p>
            <a:r>
              <a:rPr sz="600" b="1">
                <a:solidFill>
                  <a:srgbClr val="0F2741"/>
                </a:solidFill>
                <a:latin typeface="Open Sans"/>
              </a:rPr>
              <a:t>Source(s): </a:t>
            </a:r>
            <a:r>
              <a:rPr sz="600" b="0">
                <a:solidFill>
                  <a:srgbClr val="0F2741"/>
                </a:solidFill>
                <a:latin typeface="Open Sans"/>
              </a:rPr>
              <a:t>CDC; Expert(s) (Minta AA, Ferrari M, Antoni S, et al.); MMWR; WHO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6</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Percentage change in measles mortality worldwide from 2000 to 2023, by region</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Measles mortality percentage change worldwide 2000-2023, by region</a:t>
            </a:r>
          </a:p>
        </p:txBody>
      </p:sp>
    </p:spTree>
  </p:cSld>
  <p:clrMapOvr>
    <a:masterClrMapping/>
  </p:clrMapOvr>
  <p:transition/>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United States overview</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02</a:t>
            </a:r>
          </a:p>
        </p:txBody>
      </p:sp>
    </p:spTree>
  </p:cSld>
  <p:clrMapOvr>
    <a:masterClrMapping/>
  </p:clrMapOvr>
  <p:transition/>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According to a January 2022 survey, more adults in the U.S. were concerned about influenza than any other virus, with 18 percent reporting that they were "very concerned" and 33 percent "somewhat concerned" about the flu virus. This statistic shows the proportion of adults concerned about selected contagious viruses in the U.S. in 2022.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North America, United States; October 10 to 28, 2022; 4,420 respondents; 18 years and older</a:t>
            </a:r>
          </a:p>
          <a:p>
            <a:r>
              <a:rPr sz="600" b="1">
                <a:solidFill>
                  <a:srgbClr val="0F2741"/>
                </a:solidFill>
                <a:latin typeface="Open Sans"/>
              </a:rPr>
              <a:t>Source(s): </a:t>
            </a:r>
            <a:r>
              <a:rPr sz="600" b="0">
                <a:solidFill>
                  <a:srgbClr val="0F2741"/>
                </a:solidFill>
                <a:latin typeface="Open Sans"/>
              </a:rPr>
              <a:t>Morning Consult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8</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Proportion of adults concerned about selected contagious viruses in the U.S. in 2022</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U.S. adults' level of concern about various viruses in 2022</a:t>
            </a:r>
          </a:p>
        </p:txBody>
      </p:sp>
    </p:spTree>
  </p:cSld>
  <p:clrMapOvr>
    <a:masterClrMapping/>
  </p:clrMapOvr>
  <p:transition/>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According to a 2022 survey in the U.S., 39  percent of adults were not at all concerned about measles, compared to 10 percent who indicated that they were very concerned. This statistic shows the proportion of adults concerned about measles in the U.S. in 2022.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North America, United States; October 10 to 28, 2022; 4,420 respondents; 18 years and older</a:t>
            </a:r>
          </a:p>
          <a:p>
            <a:r>
              <a:rPr sz="600" b="1">
                <a:solidFill>
                  <a:srgbClr val="0F2741"/>
                </a:solidFill>
                <a:latin typeface="Open Sans"/>
              </a:rPr>
              <a:t>Source(s): </a:t>
            </a:r>
            <a:r>
              <a:rPr sz="600" b="0">
                <a:solidFill>
                  <a:srgbClr val="0F2741"/>
                </a:solidFill>
                <a:latin typeface="Open Sans"/>
              </a:rPr>
              <a:t>Morning Consult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9</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Proportion of adults concerned about measles in the U.S. in 2022</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U.S. adults' level of concern about measles in 2022</a:t>
            </a:r>
          </a:p>
        </p:txBody>
      </p:sp>
    </p:spTree>
  </p:cSld>
  <p:clrMapOvr>
    <a:masterClrMapping/>
  </p:clrMapOvr>
  <p:transition/>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According to a 2022 survey, 29 percent of adults in the U.S. aged 45 to 64 years reported that they were not very concerned about measles, compared to 25 percent of adults aged 18 to 34 years. This statistic shows the proportion of adults concerned about measles in the U.S. in 2024, by age group.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North America, United States; October 10 to 28, 2022; 4,421 respondents; 18 years and older</a:t>
            </a:r>
          </a:p>
          <a:p>
            <a:r>
              <a:rPr sz="600" b="1">
                <a:solidFill>
                  <a:srgbClr val="0F2741"/>
                </a:solidFill>
                <a:latin typeface="Open Sans"/>
              </a:rPr>
              <a:t>Source(s): </a:t>
            </a:r>
            <a:r>
              <a:rPr sz="600" b="0">
                <a:solidFill>
                  <a:srgbClr val="0F2741"/>
                </a:solidFill>
                <a:latin typeface="Open Sans"/>
              </a:rPr>
              <a:t>Morning Consult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10</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Proportion of adults concerned about measles in the U.S. in 2022, by age group</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U.S. adults' level of concern about measles in 2022, by age group</a:t>
            </a:r>
          </a:p>
        </p:txBody>
      </p:sp>
    </p:spTree>
  </p:cSld>
  <p:clrMapOvr>
    <a:masterClrMapping/>
  </p:clrMapOvr>
  <p:transition/>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1970, there were 22.79 new cases of measles per 100,000 population in the United States. However, this rate dropped to .08 in the year 2024. This statistic shows the number of new cases of measles per 100,000 population in the United States from 1919 to 2024.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a:t>
            </a:r>
          </a:p>
          <a:p>
            <a:r>
              <a:rPr sz="600" b="1">
                <a:solidFill>
                  <a:srgbClr val="0F2741"/>
                </a:solidFill>
                <a:latin typeface="Open Sans"/>
              </a:rPr>
              <a:t>Source(s): </a:t>
            </a:r>
            <a:r>
              <a:rPr sz="600" b="0">
                <a:solidFill>
                  <a:srgbClr val="0F2741"/>
                </a:solidFill>
                <a:latin typeface="Open Sans"/>
              </a:rPr>
              <a:t>CDC; OWID; US Census Bureau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11</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Rate of new measles cases in the U.S. from 1919 to 2024 (per 100,000 population)</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Rate of new cases of measles in the U.S. 1919-2024</a:t>
            </a:r>
          </a:p>
        </p:txBody>
      </p:sp>
    </p:spTree>
  </p:cSld>
  <p:clrMapOvr>
    <a:masterClrMapping/>
  </p:clrMapOvr>
  <p:transition/>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There were 285 new cases of measles in the U.S. in 2024. Measles, also known as rubeola, is an infectious disease that is highly contagious and affects mostly children. Common symptoms of measles include fever, runny nose, sore throat, cough, and a rash. Although death rates from measles have decreased around the world, it is still responsible for around 81,000 deaths worldwide per year. Measles vaccination The main reason for the decrease in measles cases and deaths is due to high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 As of April 3, 2025. Case count is preliminary and subject to change.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CDC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38"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4983550" y="1882800"/>
            <a:ext cx="22225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Number of new cases </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12</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Number of new cases of measles (rubeola) in the U.S. from 1985 to 2025</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New cases of measles in the U.S. 1985-2025</a:t>
            </a:r>
          </a:p>
        </p:txBody>
      </p:sp>
    </p:spTree>
  </p:cSld>
  <p:clrMapOvr>
    <a:masterClrMapping/>
  </p:clrMapOvr>
  <p:transition/>
  <p:timing/>
</p:sld>
</file>

<file path=ppt/slides/slide1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the period from January 1, 2023 to March 30, 2025, the weeks starting February 16, 2025 and March 16, 2025 had the highest number of measles cases, each with 85 reported cases. Measles is a highly contagious disease that can be especially dangerous for young children. Vaccines against measles resulted in a significant decrease in cases in the United States over the last few decades; however, increasing vaccine hesitancy and skepticism has been blamed for recent outbreaks.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January 1, 2023 to March 30, 2025</a:t>
            </a:r>
          </a:p>
          <a:p>
            <a:r>
              <a:rPr sz="600" b="1">
                <a:solidFill>
                  <a:srgbClr val="0F2741"/>
                </a:solidFill>
                <a:latin typeface="Open Sans"/>
              </a:rPr>
              <a:t>Source(s): </a:t>
            </a:r>
            <a:r>
              <a:rPr sz="600" b="0">
                <a:solidFill>
                  <a:srgbClr val="0F2741"/>
                </a:solidFill>
                <a:latin typeface="Open Sans"/>
              </a:rPr>
              <a:t>CDC (National Center for Immunization and Respiratory Diseases)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13</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measles cases in the United States per week from 2023 to March 2, 2025</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Number of measles cases in the U.S. per week from 2023 to 2025</a:t>
            </a:r>
          </a:p>
        </p:txBody>
      </p:sp>
    </p:spTree>
  </p:cSld>
  <p:clrMapOvr>
    <a:masterClrMapping/>
  </p:clrMapOvr>
  <p:transition/>
  <p:timing/>
</p:sld>
</file>

<file path=ppt/slides/slide1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1919, there were almost 13 deaths from measles per 100,000 population in the United States. However, this rate had dropped to zero by the year 2021. In early 2025, an outbreak of measles in Texas resulted in the death of a child. This was the first measles death in the United States since 2015. Measles is a highly contagious disease, that is especially dangerous for children. However, vaccines have significantly decreased the rate of cases and deaths in the United States.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a:t>
            </a:r>
          </a:p>
          <a:p>
            <a:r>
              <a:rPr sz="600" b="1">
                <a:solidFill>
                  <a:srgbClr val="0F2741"/>
                </a:solidFill>
                <a:latin typeface="Open Sans"/>
              </a:rPr>
              <a:t>Source(s): </a:t>
            </a:r>
            <a:r>
              <a:rPr sz="600" b="0">
                <a:solidFill>
                  <a:srgbClr val="0F2741"/>
                </a:solidFill>
                <a:latin typeface="Open Sans"/>
              </a:rPr>
              <a:t>CDC; OWID; US Census Bureau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14</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Rate of measles deaths in the U.S. from 1919 to 2021 (per 100,000 population)</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Measles death rate in the U.S. 1919-2021</a:t>
            </a:r>
          </a:p>
        </p:txBody>
      </p:sp>
    </p:spTree>
  </p:cSld>
  <p:clrMapOvr>
    <a:masterClrMapping/>
  </p:clrMapOvr>
  <p:transition/>
  <p:timing/>
</p:sld>
</file>

<file path=ppt/slides/slide1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Case breakdowns</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03</a:t>
            </a:r>
          </a:p>
        </p:txBody>
      </p:sp>
    </p:spTree>
  </p:cSld>
  <p:clrMapOvr>
    <a:masterClrMapping/>
  </p:clrMapOvr>
  <p:transition/>
  <p:timing/>
</p:sld>
</file>

<file path=ppt/slides/slide1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2023, there were around 58 measles cases in the United States, with 20 of these cases among those aged 5 to 19 years. This statistic shows the number of measles cases reported in the United States from 2020 to 2024, by age.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January 1, 2020 to March 28, 2024</a:t>
            </a:r>
          </a:p>
          <a:p>
            <a:r>
              <a:rPr sz="600" b="1">
                <a:solidFill>
                  <a:srgbClr val="0F2741"/>
                </a:solidFill>
                <a:latin typeface="Open Sans"/>
              </a:rPr>
              <a:t>Source(s): </a:t>
            </a:r>
            <a:r>
              <a:rPr sz="600" b="0">
                <a:solidFill>
                  <a:srgbClr val="0F2741"/>
                </a:solidFill>
                <a:latin typeface="Open Sans"/>
              </a:rPr>
              <a:t>CDC; Expert(s) (Mathis AD, Raines K, Masters NB, et al.); MMWR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16</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measles cases reported in the United States from 2020 to 2024, by age</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Number of measles cases reported in the U.S. from 2020 to 2024, by age</a:t>
            </a:r>
          </a:p>
        </p:txBody>
      </p:sp>
    </p:spTree>
  </p:cSld>
  <p:clrMapOvr>
    <a:masterClrMapping/>
  </p:clrMapOvr>
  <p:transition/>
  <p:timing/>
</p:sld>
</file>

<file path=ppt/slides/slide1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2024, there were a total of 285 cases of measles in the United States, with 120 of these cases among children aged under five years. From January 1 to April 3, 2025, there were 607 cases of measles. There were also two reported deaths from the disease during this time, the first since 2015. Measles is a highly contagious disease that can be especially dangerous for young children. Vaccines against measles resulted in a significant decrease in cases in the United States over the last few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2024 and 2025; * As of April 3, 2025.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CDC (National Center for Immunization and Respiratory Diseases)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17</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Number of measles cases in the United States in 2024 and 2025, by age</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Number of measles cases in the U.S. in 2024 and 2025, by age</a:t>
            </a:r>
          </a:p>
        </p:txBody>
      </p:sp>
    </p:spTree>
  </p:cSld>
  <p:clrMapOvr>
    <a:masterClrMapping/>
  </p:clrMapOvr>
  <p:transition/>
  <p:timing/>
</p:sld>
</file>

<file path=ppt/slides/slide1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2023, there were a total of 58 cases of measles in the United States. Around 72 percent of measles cases that year were attributed to unvaccinated individuals. Meanwhile, those with two doses of vaccination only accounted for just three percent of cases. This statistic shows the number of measles cases reported in the United States from 2020 to 2024, by vaccination status.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January 1, 2020 to March 28, 2024</a:t>
            </a:r>
          </a:p>
          <a:p>
            <a:r>
              <a:rPr sz="600" b="1">
                <a:solidFill>
                  <a:srgbClr val="0F2741"/>
                </a:solidFill>
                <a:latin typeface="Open Sans"/>
              </a:rPr>
              <a:t>Source(s): </a:t>
            </a:r>
            <a:r>
              <a:rPr sz="600" b="0">
                <a:solidFill>
                  <a:srgbClr val="0F2741"/>
                </a:solidFill>
                <a:latin typeface="Open Sans"/>
              </a:rPr>
              <a:t>CDC; Expert(s) (Mathis AD, Raines K, Masters NB, et al.); MMWR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18</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measles cases reported in the United States from 2020 to 2024, by vaccination status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Number of measles cases reported in the U.S. from 2020-2024, by vaccination status</a:t>
            </a:r>
          </a:p>
        </p:txBody>
      </p:sp>
    </p:spTree>
  </p:cSld>
  <p:clrMapOvr>
    <a:masterClrMapping/>
  </p:clrMapOvr>
  <p:transition/>
  <p:timing/>
</p:sld>
</file>

<file path=ppt/slides/slide2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2024, there were a total of 285 cases of measles in the United States. Around 89 percent of these cases were among those who were unvaccinated or whose vaccination status was unknown. From January 1 to April 3, 2025, there were 607 cases of measles, with those who were unvaccinated or with an unknown vaccination status accounting for 97 percent of these cases. Measles is a highly contagious disease that can be especially dangerous for young children. Vaccines against measles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2024 and 2025; * As of April 3, 2025.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CDC (National Center for Immunization and Respiratory Diseases)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19</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Distribution of measles cases in the United States in 2024 and 2025, by vaccination status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Distribution of measles cases in the U.S. in 2024 and 2025, by vaccination status</a:t>
            </a:r>
          </a:p>
        </p:txBody>
      </p:sp>
    </p:spTree>
  </p:cSld>
  <p:clrMapOvr>
    <a:masterClrMapping/>
  </p:clrMapOvr>
  <p:transition/>
  <p:timing/>
</p:sld>
</file>

<file path=ppt/slides/slide2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2024, there were 285 measles cases in the United States. That year, Minnesota had the highest number of cases, followed by Illinois, and Oregon. Measles is a highly contagious disease that can be especially dangerous for young children. Vaccines against measles resulted in a significant decrease in cases in the United States over the last few decades; however, increasing vaccine hesitancy and skepticism has been blamed for recent outbreaks.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2024</a:t>
            </a:r>
          </a:p>
          <a:p>
            <a:r>
              <a:rPr sz="600" b="1">
                <a:solidFill>
                  <a:srgbClr val="0F2741"/>
                </a:solidFill>
                <a:latin typeface="Open Sans"/>
              </a:rPr>
              <a:t>Source(s): </a:t>
            </a:r>
            <a:r>
              <a:rPr sz="600" b="0">
                <a:solidFill>
                  <a:srgbClr val="0F2741"/>
                </a:solidFill>
                <a:latin typeface="Open Sans"/>
              </a:rPr>
              <a:t>CDC (National Center for Immunization and Respiratory Diseases)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39"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5205800" y="1882800"/>
            <a:ext cx="17780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Number of cases</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20</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Number of measles cases in the United States in 2024, by state</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Number of measles cases in the U.S. in 2024, by state</a:t>
            </a:r>
          </a:p>
        </p:txBody>
      </p:sp>
    </p:spTree>
  </p:cSld>
  <p:clrMapOvr>
    <a:masterClrMapping/>
  </p:clrMapOvr>
  <p:transition/>
  <p:timing/>
</p:sld>
</file>

<file path=ppt/slides/slide2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3"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From January 1 to April 3, 2025, there were 607 measles cases in the United States. So far, Texas has reported the highest number of measles cases in 2025. Measles is a highly contagious disease that can be especially dangerous for young children. Vaccines against measles resulted in a significant decrease in cases in the United States over the last few decades; however, increasing vaccine hesitancy and skepticism has been blamed for recent outbreaks.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January 1 to April 3, 2025</a:t>
            </a:r>
          </a:p>
          <a:p>
            <a:r>
              <a:rPr sz="600" b="1">
                <a:solidFill>
                  <a:srgbClr val="0F2741"/>
                </a:solidFill>
                <a:latin typeface="Open Sans"/>
              </a:rPr>
              <a:t>Source(s): </a:t>
            </a:r>
            <a:r>
              <a:rPr sz="600" b="0">
                <a:solidFill>
                  <a:srgbClr val="0F2741"/>
                </a:solidFill>
                <a:latin typeface="Open Sans"/>
              </a:rPr>
              <a:t>CDC (National Center for Immunization and Respiratory Diseases)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523300" y="5339925"/>
            <a:ext cx="11143000" cy="691425"/>
          </a:xfrm>
          <a:prstGeom prst="rect">
            <a:avLst/>
          </a:prstGeom>
          <a:blipFill>
            <a:blip r:embed="rId7"/>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aphicFrame>
        <p:nvGraphicFramePr>
          <p:cNvPr id="6" name="OleObject" title=""/>
          <p:cNvGraphicFramePr>
            <a:graphicFrameLocks noChangeAspect="1"/>
          </p:cNvGraphicFramePr>
          <p:nvPr/>
        </p:nvGraphicFramePr>
        <p:xfrm>
          <a:off x="9399600" y="5401865"/>
          <a:ext cx="2203200" cy="629486"/>
        </p:xfrm>
        <a:graphic>
          <a:graphicData uri="http://schemas.openxmlformats.org/presentationml/2006/ole">
            <mc:AlternateContent>
              <mc:Choice xmlns:v="urn:schemas-microsoft-com:vml" Requires="v">
                <p:oleObj spid="_x0000_s1040" r:id="rId8" imgW="2203200" imgH="629486" progId=".xls">
                  <p:embed/>
                </p:oleObj>
              </mc:Choice>
              <mc:Fallback>
                <p:oleObj r:id="rId8" imgW="2203200" imgH="629486" progId=".xls">
                  <p:embed/>
                  <p:pic>
                    <p:nvPicPr>
                      <p:cNvPr id="0" name="OLE substitute image"/>
                      <p:cNvPicPr/>
                      <p:nvPr/>
                    </p:nvPicPr>
                    <p:blipFill>
                      <a:blip r:embed="rId10"/>
                      <a:srcRect t="100000"/>
                      <a:tile tx="0" ty="0" sx="100000" sy="100000" flip="none" algn="tl"/>
                    </p:blipFill>
                    <p:spPr>
                      <a:xfrm>
                        <a:off x="9399600" y="5401865"/>
                        <a:ext cx="2203200" cy="629486"/>
                      </a:xfrm>
                      <a:prstGeom prst="rect">
                        <a:avLst/>
                      </a:prstGeom>
                      <a:blipFill>
                        <a:blip r:embed="rId9"/>
                        <a:stretch>
                          <a:fillRect/>
                        </a:stretch>
                      </a:blipFill>
                      <a:ln>
                        <a:noFill/>
                      </a:ln>
                    </p:spPr>
                  </p:pic>
                </p:oleObj>
              </mc:Fallback>
            </mc:AlternateContent>
          </a:graphicData>
        </a:graphic>
      </p:graphicFrame>
      <p:sp>
        <p:nvSpPr>
          <p:cNvPr id="7" name="New shape" title=""/>
          <p:cNvSpPr/>
          <p:nvPr/>
        </p:nvSpPr>
        <p:spPr>
          <a:xfrm>
            <a:off x="5205800" y="1882800"/>
            <a:ext cx="17780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Number of cases</a:t>
            </a:r>
          </a:p>
        </p:txBody>
      </p:sp>
      <p:sp>
        <p:nvSpPr>
          <p:cNvPr id="8"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21</a:t>
            </a:r>
          </a:p>
        </p:txBody>
      </p:sp>
      <p:sp>
        <p:nvSpPr>
          <p:cNvPr id="9"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Number of measles cases in the United States from January 1 to April 3, 2025, by state</a:t>
            </a:r>
          </a:p>
        </p:txBody>
      </p:sp>
      <p:sp>
        <p:nvSpPr>
          <p:cNvPr id="10"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Number of measles cases in the U.S. in 2025, by state</a:t>
            </a:r>
          </a:p>
        </p:txBody>
      </p:sp>
    </p:spTree>
  </p:cSld>
  <p:clrMapOvr>
    <a:masterClrMapping/>
  </p:clrMapOvr>
  <p:transition/>
  <p:timing/>
</p:sld>
</file>

<file path=ppt/slides/slide2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2024, there were a total of 285 cases of measles in the United States. Around 40 percent of these cases were hospitalized for isolation or for management of measles complications. From January 1 to April 3, 2025, there were 607 cases of measles, with 12 percent needing hospitalization. Measles is a highly contagious disease that can be especially dangerous for young children. Vaccines against measles resulted in a significant decrease in cases in the United States over the last few decades;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2024 and 2025; * As of April 3, 2025.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CDC (National Center for Immunization and Respiratory Diseases)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22</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Percentage of measles cases in the United States that resulted in hospitalization in 2024 and 2025</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Share of measles cases in the U.S. that were hospitalized in 2024 and 2025</a:t>
            </a:r>
          </a:p>
        </p:txBody>
      </p:sp>
    </p:spTree>
  </p:cSld>
  <p:clrMapOvr>
    <a:masterClrMapping/>
  </p:clrMapOvr>
  <p:transition/>
  <p:timing/>
</p:sld>
</file>

<file path=ppt/slides/slide2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2024, there were a total of 285 cases of measles in the United States. That year, around half of measles cases among children aged under five years were hospitalized for isolation or for management of measles complications. From January 1 to April 3, 2025, there were 607 cases of measles, with 21 percent of cases among children under five needing hospitalization. Measles is a highly contagious disease that can be especially dangerous for young children. Vaccines against measles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2024 and 2025; * As of April 3, 2025.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CDC (National Center for Immunization and Respiratory Diseases)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23</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Percentage of measles cases in the United States that resulted in hospitalization in 2024 and 2025, by age</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Share of measles cases in the U.S. that were hospitalized in 2024 and 2025, by age</a:t>
            </a:r>
          </a:p>
        </p:txBody>
      </p:sp>
    </p:spTree>
  </p:cSld>
  <p:clrMapOvr>
    <a:masterClrMapping/>
  </p:clrMapOvr>
  <p:transition/>
  <p:timing/>
</p:sld>
</file>

<file path=ppt/slides/slide2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Vaccinations</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04</a:t>
            </a:r>
          </a:p>
        </p:txBody>
      </p:sp>
    </p:spTree>
  </p:cSld>
  <p:clrMapOvr>
    <a:masterClrMapping/>
  </p:clrMapOvr>
  <p:transition/>
  <p:timing/>
</p:sld>
</file>

<file path=ppt/slides/slide2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This statistic shows the annual number of cases of select infectious diseases in the U.S. before and after the development and use of vaccinations as of 2022. Before the use of vaccinations there were an estimated 530,217 new cases of measles per year in the United States. This number dropped to 121 new cases in 2022 due to the development and use of vaccinations.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a:t>
            </a:r>
          </a:p>
          <a:p>
            <a:r>
              <a:rPr sz="600" b="1">
                <a:solidFill>
                  <a:srgbClr val="0F2741"/>
                </a:solidFill>
                <a:latin typeface="Open Sans"/>
              </a:rPr>
              <a:t>Source(s): </a:t>
            </a:r>
            <a:r>
              <a:rPr sz="600" b="0">
                <a:solidFill>
                  <a:srgbClr val="0F2741"/>
                </a:solidFill>
                <a:latin typeface="Open Sans"/>
              </a:rPr>
              <a:t>CDC (National Notifiable Diseases Surveillance System (NNDSS)); Journal of the American Medical Association; MMWR; Pfizer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New Table" title=""/>
          <p:cNvGraphicFramePr>
            <a:graphicFrameLocks noGrp="1"/>
          </p:cNvGraphicFramePr>
          <p:nvPr/>
        </p:nvGraphicFramePr>
        <p:xfrm>
          <a:off x="586800" y="1882800"/>
          <a:ext cx="11016000" cy="3108960"/>
        </p:xfrm>
        <a:graphic>
          <a:graphicData uri="http://schemas.openxmlformats.org/drawingml/2006/table">
            <a:tbl>
              <a:tblPr firstRow="1" bandRow="1">
                <a:tableStyleId>{5C22544A-7EE6-4342-B048-85BDC9FD1C3A}</a:tableStyleId>
              </a:tblPr>
              <a:tblGrid>
                <a:gridCol w="3674967"/>
                <a:gridCol w="4146767"/>
                <a:gridCol w="3194267"/>
              </a:tblGrid>
              <a:tr h="0">
                <a:tc>
                  <a:txBody>
                    <a:bodyPr/>
                    <a:lstStyle/>
                    <a:p>
                      <a:pPr algn="l"/>
                      <a:endParaRPr sz="1100" b="1">
                        <a:solidFill>
                          <a:srgbClr val="0F2741"/>
                        </a:solidFill>
                        <a:latin typeface="Open Sans"/>
                      </a:endParaRP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b="1">
                          <a:solidFill>
                            <a:srgbClr val="0F2741"/>
                          </a:solidFill>
                          <a:latin typeface="Open Sans"/>
                        </a:rPr>
                        <a:t>Pre-vaccine estimates (1900-1969)</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b="1">
                          <a:solidFill>
                            <a:srgbClr val="0F2741"/>
                          </a:solidFill>
                          <a:latin typeface="Open Sans"/>
                        </a:rPr>
                        <a:t>Recent estimates (2022)</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Diphtheria</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21053</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Hepatitis A</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117333</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2264</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Hepatitis B</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66232</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2126</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Measles</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530217</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121</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Mumps</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162344</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386</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Pertussis</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200752</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3044</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Polio</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16316</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Rubella</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47745</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7</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Congenital Rubella</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152</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Smallpox</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29005</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r h="0">
                <a:tc>
                  <a:txBody>
                    <a:bodyPr/>
                    <a:lstStyle/>
                    <a:p>
                      <a:r>
                        <a:rPr sz="1100">
                          <a:solidFill>
                            <a:srgbClr val="0F2741"/>
                          </a:solidFill>
                          <a:latin typeface="Open Sans"/>
                        </a:rPr>
                        <a:t>Tetanus</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580</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c>
                  <a:txBody>
                    <a:bodyPr/>
                    <a:lstStyle/>
                    <a:p>
                      <a:pPr algn="r"/>
                      <a:r>
                        <a:rPr sz="1100">
                          <a:solidFill>
                            <a:srgbClr val="0F2741"/>
                          </a:solidFill>
                          <a:latin typeface="Open Sans"/>
                        </a:rPr>
                        <a:t>26</a:t>
                      </a:r>
                    </a:p>
                  </a:txBody>
                  <a:tcPr>
                    <a:lnL>
                      <a:solidFill>
                        <a:srgbClr val="D3D3D3"/>
                      </a:solidFill>
                    </a:lnL>
                    <a:lnR>
                      <a:solidFill>
                        <a:srgbClr val="D3D3D3"/>
                      </a:solidFill>
                    </a:lnR>
                    <a:lnT>
                      <a:solidFill>
                        <a:srgbClr val="D3D3D3"/>
                      </a:solidFill>
                    </a:lnT>
                    <a:lnB>
                      <a:solidFill>
                        <a:srgbClr val="D3D3D3"/>
                      </a:solidFill>
                    </a:lnB>
                    <a:solidFill>
                      <a:srgbClr val="FFFFFF">
                        <a:alpha val="0"/>
                      </a:srgbClr>
                    </a:solidFill>
                  </a:tcPr>
                </a:tc>
              </a:tr>
            </a:tbl>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25</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Annual number of cases of select infectious diseases in the U.S. before and after the development and use of vaccinations as of 2022</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Cases of infectious diseases before and after the use of vaccines U.S. 2022</a:t>
            </a:r>
          </a:p>
        </p:txBody>
      </p:sp>
    </p:spTree>
  </p:cSld>
  <p:clrMapOvr>
    <a:masterClrMapping/>
  </p:clrMapOvr>
  <p:transition/>
  <p:timing/>
</p:sld>
</file>

<file path=ppt/slides/slide2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Among U.S. children born in 2019-2020, around 91.6 percent had received at least one dose of the measles, mumps and rubella (MMR) vaccination by the time they turned 24 years of age. This statistic shows the share of children in the United States born in the years from 2013 to 2020 who received at least one does of the MMR vaccination before they were 24 months old.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children aged 23 months and younger</a:t>
            </a:r>
          </a:p>
          <a:p>
            <a:r>
              <a:rPr sz="600" b="1">
                <a:solidFill>
                  <a:srgbClr val="0F2741"/>
                </a:solidFill>
                <a:latin typeface="Open Sans"/>
              </a:rPr>
              <a:t>Source(s): </a:t>
            </a:r>
            <a:r>
              <a:rPr sz="600" b="0">
                <a:solidFill>
                  <a:srgbClr val="0F2741"/>
                </a:solidFill>
                <a:latin typeface="Open Sans"/>
              </a:rPr>
              <a:t>CDC; MMWR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26</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Share of children born in the United States from 2013 to 2020 who were vaccinated against measles, mumps, and rubella (MMR) by age 24 months</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MMR vaccination rate among U.S. children before 24 months 2013-2020</a:t>
            </a:r>
          </a:p>
        </p:txBody>
      </p:sp>
    </p:spTree>
  </p:cSld>
  <p:clrMapOvr>
    <a:masterClrMapping/>
  </p:clrMapOvr>
  <p:transition/>
  <p:timing/>
</p:sld>
</file>

<file path=ppt/slides/slide2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2023, over 90 percent of teenagers had received both MMR and Hepatitis B vaccinations. This statistic shows the percentage of adolescents in the U.S. aged 13 to 17 years who had received select vaccinations in 2022 and 2023.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2022 and 2023; 16,568 adolescents; 13-17 years; parents and guardians of adolescents; * Tetanus toxoid, reduced diphtheria toxoid, and acellular pertussis vaccine. ** Quadrivalent meningococcal conjugate vaccine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CDC; MMWR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27</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Percentage of adolescents in the U.S. aged 13 to 17 years who had received select vaccinations in 2022 and 2023</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Share of U.S. teenagers who had select vaccinations 2022-2023</a:t>
            </a:r>
          </a:p>
        </p:txBody>
      </p:sp>
    </p:spTree>
  </p:cSld>
  <p:clrMapOvr>
    <a:masterClrMapping/>
  </p:clrMapOvr>
  <p:transition/>
  <p:timing/>
</p:sld>
</file>

<file path=ppt/slides/slide2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1"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In the United States, 91.5 percent of adolescents aged 15 years had received at least 2 doses of the MMR vaccine as of 2023. This statistic shows the percentage of adolescents in the U.S. who had received select vaccinations as of 2023, by age.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2023; 16,568 adolescents; 13-17 years; parents and guardians of adolescents; * MenACWY = quadrivalent meningococcal conjugate vaccine, one or more doses. ** MMR = measles, mumps, and rubella vaccine, two or more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Source(s): </a:t>
            </a:r>
            <a:r>
              <a:rPr sz="600" b="0">
                <a:solidFill>
                  <a:srgbClr val="0F2741"/>
                </a:solidFill>
                <a:latin typeface="Open Sans"/>
              </a:rPr>
              <a:t>CDC (NIS-Teen); MMWR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2098700"/>
          <a:ext cx="11016000" cy="3932650"/>
        </p:xfrm>
        <a:graphic>
          <a:graphicData uri="http://schemas.openxmlformats.org/drawingml/2006/chart">
            <c:chart xmlns:c="http://schemas.openxmlformats.org/drawingml/2006/chart" r:id="rId6"/>
          </a:graphicData>
        </a:graphic>
      </p:graphicFrame>
      <p:sp>
        <p:nvSpPr>
          <p:cNvPr id="5" name="New shape" title=""/>
          <p:cNvSpPr/>
          <p:nvPr/>
        </p:nvSpPr>
        <p:spPr>
          <a:xfrm>
            <a:off x="4812100" y="1882800"/>
            <a:ext cx="2565400" cy="215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170" tIns="46990" rIns="90170" bIns="46990" rtlCol="0" anchor="t"/>
          <a:lstStyle/>
          <a:p>
            <a:pPr algn="ctr">
              <a:spcAft>
                <a:spcPct val="20000"/>
              </a:spcAft>
            </a:pPr>
            <a:r>
              <a:rPr sz="1100">
                <a:solidFill>
                  <a:srgbClr val="0F2741"/>
                </a:solidFill>
                <a:latin typeface="Open Sans"/>
              </a:rPr>
              <a:t>Percentage of adolescents</a:t>
            </a:r>
          </a:p>
        </p:txBody>
      </p:sp>
      <p:sp>
        <p:nvSpPr>
          <p:cNvPr id="6"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28</a:t>
            </a:r>
          </a:p>
        </p:txBody>
      </p:sp>
      <p:sp>
        <p:nvSpPr>
          <p:cNvPr id="7"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Percentage of adolescents in the U.S. who had received select vaccinations as of 2023, by age</a:t>
            </a:r>
          </a:p>
        </p:txBody>
      </p:sp>
      <p:sp>
        <p:nvSpPr>
          <p:cNvPr id="8"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Vaccination coverage among U.S. adolescents as of 2023, by age</a:t>
            </a:r>
          </a:p>
        </p:txBody>
      </p:sp>
    </p:spTree>
  </p:cSld>
  <p:clrMapOvr>
    <a:masterClrMapping/>
  </p:clrMapOvr>
  <p:transition/>
  <p:timing/>
</p:sld>
</file>

<file path=ppt/slides/slide3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4" name="New shape" title=""/>
          <p:cNvSpPr/>
          <p:nvPr/>
        </p:nvSpPr>
        <p:spPr>
          <a:xfrm>
            <a:off x="7416000" y="-10800"/>
            <a:ext cx="4784400" cy="68796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2077200"/>
            <a:ext cx="7020000" cy="126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3800">
                <a:solidFill>
                  <a:srgbClr val="0F2741"/>
                </a:solidFill>
                <a:latin typeface="Open Sans Light"/>
              </a:rPr>
              <a:t>Vaccine hesitancy</a:t>
            </a:r>
          </a:p>
        </p:txBody>
      </p:sp>
      <p:sp>
        <p:nvSpPr>
          <p:cNvPr id="3" name="New shape" title=""/>
          <p:cNvSpPr/>
          <p:nvPr/>
        </p:nvSpPr>
        <p:spPr>
          <a:xfrm>
            <a:off x="507600" y="1645200"/>
            <a:ext cx="7020000" cy="3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1400" b="1">
                <a:solidFill>
                  <a:srgbClr val="0077D5"/>
                </a:solidFill>
                <a:latin typeface="Open Sans"/>
              </a:rPr>
              <a:t>CHAPTER 05</a:t>
            </a:r>
          </a:p>
        </p:txBody>
      </p:sp>
    </p:spTree>
  </p:cSld>
  <p:clrMapOvr>
    <a:masterClrMapping/>
  </p:clrMapOvr>
  <p:transition/>
  <p:timing/>
</p:sld>
</file>

<file path=ppt/slides/slide3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According to a survey from 2023, around 88 percent of U.S. adults stated they felt the benefits of childhood vaccines for measles, mumps and rubella (MMR) outweigh the risks. This number remained unchanged from surveys conducted in 2016 and 2019. This statistic shows the percentage of U.S. adults who stated the benefits of childhood vaccines for measles, mumps and rubella (MMR) outweigh the risks from 2016 to 2023.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June 2016, October 2019, and March 2023; 10,701 respondents; 18 years and older</a:t>
            </a:r>
          </a:p>
          <a:p>
            <a:r>
              <a:rPr sz="600" b="1">
                <a:solidFill>
                  <a:srgbClr val="0F2741"/>
                </a:solidFill>
                <a:latin typeface="Open Sans"/>
              </a:rPr>
              <a:t>Source(s): </a:t>
            </a:r>
            <a:r>
              <a:rPr sz="600" b="0">
                <a:solidFill>
                  <a:srgbClr val="0F2741"/>
                </a:solidFill>
                <a:latin typeface="Open Sans"/>
              </a:rPr>
              <a:t>Pew Research Center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30</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fontScale="97500" lnSpcReduction="20000"/>
          </a:bodyPr>
          <a:lstStyle/>
          <a:p>
            <a:pPr algn="l">
              <a:lnSpc>
                <a:spcPct val="100000"/>
              </a:lnSpc>
              <a:spcAft>
                <a:spcPct val="20000"/>
              </a:spcAft>
            </a:pPr>
            <a:r>
              <a:rPr sz="2500">
                <a:solidFill>
                  <a:srgbClr val="0F2741"/>
                </a:solidFill>
                <a:latin typeface="Open Sans Light"/>
              </a:rPr>
              <a:t>Percentage of U.S. adults who stated the benefits of childhood vaccines for measles, mumps and rubella (MMR) outweigh the risks from 2016 to 2023</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U.S. adults who felt the benefits of MMR vaccine outweigh risks 2016-2023</a:t>
            </a:r>
          </a:p>
        </p:txBody>
      </p:sp>
    </p:spTree>
  </p:cSld>
  <p:clrMapOvr>
    <a:masterClrMapping/>
  </p:clrMapOvr>
  <p:transition/>
  <p:timing/>
</p:sld>
</file>

<file path=ppt/slides/slide3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 survey of adults in the United States from 2024 found that almost 20 percent thought it was definitely true or probably true that getting the measles vaccine is more dangerous than becoming infected with measles. However, this statement is false. Measles is a highly contagious disease that is especially dangerous for children. Vaccinations against measles are safe and effective and have resulted in a significant decrease in measles cases and deaths in the United States. Vaccine hesitancy and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February 20 to 28, 2024; 1,316 respondents; 18 years and older</a:t>
            </a:r>
          </a:p>
          <a:p>
            <a:r>
              <a:rPr sz="600" b="1">
                <a:solidFill>
                  <a:srgbClr val="0F2741"/>
                </a:solidFill>
                <a:latin typeface="Open Sans"/>
              </a:rPr>
              <a:t>Source(s): </a:t>
            </a:r>
            <a:r>
              <a:rPr sz="600" b="0">
                <a:solidFill>
                  <a:srgbClr val="0F2741"/>
                </a:solidFill>
                <a:latin typeface="Open Sans"/>
              </a:rPr>
              <a:t>KFF (KFF Health Misinformation Tracking Poll)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31</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fontScale="97500" lnSpcReduction="20000"/>
          </a:bodyPr>
          <a:lstStyle/>
          <a:p>
            <a:pPr algn="l">
              <a:lnSpc>
                <a:spcPct val="100000"/>
              </a:lnSpc>
              <a:spcAft>
                <a:spcPct val="20000"/>
              </a:spcAft>
            </a:pPr>
            <a:r>
              <a:rPr sz="2500">
                <a:solidFill>
                  <a:srgbClr val="0F2741"/>
                </a:solidFill>
                <a:latin typeface="Open Sans Light"/>
              </a:rPr>
              <a:t>Percentage of adults in the United States who thought getting the measles vaccine is more dangerous than becoming infected with measles as of 2024</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U.S. adults who thought the measles vaccine is more dangerous than measles, 2024</a:t>
            </a:r>
          </a:p>
        </p:txBody>
      </p:sp>
    </p:spTree>
  </p:cSld>
  <p:clrMapOvr>
    <a:masterClrMapping/>
  </p:clrMapOvr>
  <p:transition/>
  <p:timing/>
</p:sld>
</file>

<file path=ppt/slides/slide3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 survey of adults in the United States from 2024 found that 23 percent of Republicans thought it was definitely true or probably true that getting the measles vaccine is more dangerous than becoming infected with measles. However, this statement is false. Measles is a highly contagious disease that is especially dangerous for children. Vaccinations against measles are safe and effective and have resulted in a significant decrease in measles cases and deaths in the United States. Vaccine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February 20 to 28, 2024; 1,316 respondents; 18 years and older</a:t>
            </a:r>
          </a:p>
          <a:p>
            <a:r>
              <a:rPr sz="600" b="1">
                <a:solidFill>
                  <a:srgbClr val="0F2741"/>
                </a:solidFill>
                <a:latin typeface="Open Sans"/>
              </a:rPr>
              <a:t>Source(s): </a:t>
            </a:r>
            <a:r>
              <a:rPr sz="600" b="0">
                <a:solidFill>
                  <a:srgbClr val="0F2741"/>
                </a:solidFill>
                <a:latin typeface="Open Sans"/>
              </a:rPr>
              <a:t>KFF (KFF Health Misinformation Tracking Poll)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32</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fontScale="87500" lnSpcReduction="10000"/>
          </a:bodyPr>
          <a:lstStyle/>
          <a:p>
            <a:pPr algn="l">
              <a:lnSpc>
                <a:spcPct val="100000"/>
              </a:lnSpc>
              <a:spcAft>
                <a:spcPct val="20000"/>
              </a:spcAft>
            </a:pPr>
            <a:r>
              <a:rPr sz="2500">
                <a:solidFill>
                  <a:srgbClr val="0F2741"/>
                </a:solidFill>
                <a:latin typeface="Open Sans Light"/>
              </a:rPr>
              <a:t>Percentage of adults in the United States who thought getting the measles vaccine is more dangerous than becoming infected with measles as of 2024, by party ID</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U.S. adults who thought the vaccine is more dangerous than measles, 2024, by party</a:t>
            </a:r>
          </a:p>
        </p:txBody>
      </p:sp>
    </p:spTree>
  </p:cSld>
  <p:clrMapOvr>
    <a:masterClrMapping/>
  </p:clrMapOvr>
  <p:transition/>
  <p:timing/>
</p:sld>
</file>

<file path=ppt/slides/slide3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 survey of adults in the United States from 2024 found that 23 percent of those with less than a college education thought it was definitely true or probably true that getting the measles vaccine is more dangerous than becoming infected with measles. However, this statement is false. Measles is a highly contagious disease that is especially dangerous for children. Vaccinations against measles are safe and effective and have resulted in a significant decrease in measles cases and deaths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February 20 to 28, 2024; 1,316 respondents; 18 years and older</a:t>
            </a:r>
          </a:p>
          <a:p>
            <a:r>
              <a:rPr sz="600" b="1">
                <a:solidFill>
                  <a:srgbClr val="0F2741"/>
                </a:solidFill>
                <a:latin typeface="Open Sans"/>
              </a:rPr>
              <a:t>Source(s): </a:t>
            </a:r>
            <a:r>
              <a:rPr sz="600" b="0">
                <a:solidFill>
                  <a:srgbClr val="0F2741"/>
                </a:solidFill>
                <a:latin typeface="Open Sans"/>
              </a:rPr>
              <a:t>KFF (KFF Health Misinformation Tracking Poll)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33</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fontScale="87500" lnSpcReduction="10000"/>
          </a:bodyPr>
          <a:lstStyle/>
          <a:p>
            <a:pPr algn="l">
              <a:lnSpc>
                <a:spcPct val="100000"/>
              </a:lnSpc>
              <a:spcAft>
                <a:spcPct val="20000"/>
              </a:spcAft>
            </a:pPr>
            <a:r>
              <a:rPr sz="2500">
                <a:solidFill>
                  <a:srgbClr val="0F2741"/>
                </a:solidFill>
                <a:latin typeface="Open Sans Light"/>
              </a:rPr>
              <a:t>Percentage of adults in the United States who thought getting the measles vaccine is more dangerous than becoming infected with measles as of 2024, by education</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U.S. adults who thought the vaccine is more dangerous than measles by education, 2024</a:t>
            </a:r>
          </a:p>
        </p:txBody>
      </p:sp>
    </p:spTree>
  </p:cSld>
  <p:clrMapOvr>
    <a:masterClrMapping/>
  </p:clrMapOvr>
  <p:transition/>
  <p:timing/>
</p:sld>
</file>

<file path=ppt/slides/slide3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 survey of U.S. adults from 2024 found that around 73 percent of respondents thought it was very accurate or somewhat accurate that there is no evidence of a link between measles vaccines and getting autism, as stated by the CDC. However, around a quarter of U.S. adults do not accept the CDC's statement that there is no evidence linking the measles vaccine to getting autism. Vaccinations against measles have resulted in significant decreases in cases and deaths from the disease in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April 18 to 24, 2024; 1,522 respondents; 18 years and older</a:t>
            </a:r>
          </a:p>
          <a:p>
            <a:r>
              <a:rPr sz="600" b="1">
                <a:solidFill>
                  <a:srgbClr val="0F2741"/>
                </a:solidFill>
                <a:latin typeface="Open Sans"/>
              </a:rPr>
              <a:t>Source(s): </a:t>
            </a:r>
            <a:r>
              <a:rPr sz="600" b="0">
                <a:solidFill>
                  <a:srgbClr val="0F2741"/>
                </a:solidFill>
                <a:latin typeface="Open Sans"/>
              </a:rPr>
              <a:t>Annenberg Public Policy Center; National Opinion Research Center; SSRS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34</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fontScale="87500" lnSpcReduction="10000"/>
          </a:bodyPr>
          <a:lstStyle/>
          <a:p>
            <a:pPr algn="l">
              <a:lnSpc>
                <a:spcPct val="100000"/>
              </a:lnSpc>
              <a:spcAft>
                <a:spcPct val="20000"/>
              </a:spcAft>
            </a:pPr>
            <a:r>
              <a:rPr sz="2500">
                <a:solidFill>
                  <a:srgbClr val="0F2741"/>
                </a:solidFill>
                <a:latin typeface="Open Sans Light"/>
              </a:rPr>
              <a:t>Percentage of U.S. adults who thought it was accurate that there was no evidence of a link between measles vaccines and getting autism in 2018 and 2024</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Share of U.S. adults agreeing there's no link between measles vaccine and autism 2024</a:t>
            </a:r>
          </a:p>
        </p:txBody>
      </p:sp>
    </p:spTree>
  </p:cSld>
  <p:clrMapOvr>
    <a:masterClrMapping/>
  </p:clrMapOvr>
  <p:transition/>
  <p:timing/>
</p:sld>
</file>

<file path=ppt/slides/slide3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10"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586800" y="6224400"/>
            <a:ext cx="9576000" cy="527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r>
              <a:rPr sz="600" b="1">
                <a:solidFill>
                  <a:srgbClr val="0F2741"/>
                </a:solidFill>
                <a:latin typeface="Open Sans"/>
              </a:rPr>
              <a:t>Description: </a:t>
            </a:r>
            <a:r>
              <a:rPr sz="600" b="0">
                <a:solidFill>
                  <a:srgbClr val="0F2741"/>
                </a:solidFill>
                <a:latin typeface="Open Sans"/>
              </a:rPr>
              <a:t>A survey of U.S. adults from October 2023 found that around 70 percent of respondents thought it was definitely or probably false that vaccines given to children for diseases like measles, mumps, and rubella cause autism. However, around a quarter of U.S. adults falsely believed that MMR vaccines can cause autism. Vaccinations against measles have resulted in significant decreases in cases and deaths from the disease in the United States. However, vaccine hesitancy and skepticism [...] </a:t>
            </a:r>
            <a:r>
              <a:rPr sz="600" b="0">
                <a:solidFill>
                  <a:srgbClr val="0F2741"/>
                </a:solidFill>
                <a:latin typeface="Open Sans"/>
                <a:hlinkClick r:id="rId5">
                  <a:extLst>
                    <a:ext uri="{A12FA001-AC4F-418D-AE19-62706E023703}">
                      <ahyp:hlinkClr xmlns:ahyp="http://schemas.microsoft.com/office/drawing/2018/hyperlinkcolor" val="tx"/>
                    </a:ext>
                  </a:extLst>
                </a:hlinkClick>
              </a:rPr>
              <a:t>Read more</a:t>
            </a:r>
          </a:p>
          <a:p>
            <a:r>
              <a:rPr sz="600" b="1">
                <a:solidFill>
                  <a:srgbClr val="0F2741"/>
                </a:solidFill>
                <a:latin typeface="Open Sans"/>
              </a:rPr>
              <a:t>Note(s): </a:t>
            </a:r>
            <a:r>
              <a:rPr sz="600" b="0">
                <a:solidFill>
                  <a:srgbClr val="0F2741"/>
                </a:solidFill>
                <a:latin typeface="Open Sans"/>
              </a:rPr>
              <a:t>United States; June 2021, August 2022, October 2023; around 1,500 each year; 18 years and older</a:t>
            </a:r>
          </a:p>
          <a:p>
            <a:r>
              <a:rPr sz="600" b="1">
                <a:solidFill>
                  <a:srgbClr val="0F2741"/>
                </a:solidFill>
                <a:latin typeface="Open Sans"/>
              </a:rPr>
              <a:t>Source(s): </a:t>
            </a:r>
            <a:r>
              <a:rPr sz="600" b="0">
                <a:solidFill>
                  <a:srgbClr val="0F2741"/>
                </a:solidFill>
                <a:latin typeface="Open Sans"/>
              </a:rPr>
              <a:t>Annenberg Public Policy Center; SSRS </a:t>
            </a:r>
          </a:p>
        </p:txBody>
      </p:sp>
      <p:sp>
        <p:nvSpPr>
          <p:cNvPr id="3" name="New shape" title=""/>
          <p:cNvSpPr/>
          <p:nvPr/>
        </p:nvSpPr>
        <p:spPr>
          <a:xfrm>
            <a:off x="885600" y="6220800"/>
            <a:ext cx="8035199" cy="280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endParaRPr sz="600">
              <a:solidFill>
                <a:srgbClr val="455F7C"/>
              </a:solidFill>
              <a:latin typeface="Open Sans"/>
            </a:endParaRPr>
          </a:p>
        </p:txBody>
      </p:sp>
      <p:graphicFrame>
        <p:nvGraphicFramePr>
          <p:cNvPr id="4" name="ChartObject" title=""/>
          <p:cNvGraphicFramePr/>
          <p:nvPr/>
        </p:nvGraphicFramePr>
        <p:xfrm>
          <a:off x="586800" y="1882800"/>
          <a:ext cx="11016000" cy="4148550"/>
        </p:xfrm>
        <a:graphic>
          <a:graphicData uri="http://schemas.openxmlformats.org/drawingml/2006/chart">
            <c:chart xmlns:c="http://schemas.openxmlformats.org/drawingml/2006/chart" r:id="rId6"/>
          </a:graphicData>
        </a:graphic>
      </p:graphicFrame>
      <p:sp>
        <p:nvSpPr>
          <p:cNvPr id="5"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35</a:t>
            </a:r>
          </a:p>
        </p:txBody>
      </p:sp>
      <p:sp>
        <p:nvSpPr>
          <p:cNvPr id="6"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lnSpcReduction="20000"/>
          </a:bodyPr>
          <a:lstStyle/>
          <a:p>
            <a:pPr algn="l">
              <a:lnSpc>
                <a:spcPct val="100000"/>
              </a:lnSpc>
              <a:spcAft>
                <a:spcPct val="20000"/>
              </a:spcAft>
            </a:pPr>
            <a:r>
              <a:rPr sz="2500">
                <a:solidFill>
                  <a:srgbClr val="0F2741"/>
                </a:solidFill>
                <a:latin typeface="Open Sans Light"/>
              </a:rPr>
              <a:t>Percentage of U.S. adults who thought vaccines given to children for diseases like measles, mumps, and rubella cause autism, 2021-2023</a:t>
            </a:r>
          </a:p>
        </p:txBody>
      </p:sp>
      <p:sp>
        <p:nvSpPr>
          <p:cNvPr id="7" name="New shape" title=""/>
          <p:cNvSpPr/>
          <p:nvPr/>
        </p:nvSpPr>
        <p:spPr>
          <a:xfrm>
            <a:off x="496800" y="1260000"/>
            <a:ext cx="11196000" cy="313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normAutofit/>
          </a:bodyPr>
          <a:lstStyle/>
          <a:p>
            <a:pPr algn="l">
              <a:lnSpc>
                <a:spcPct val="100000"/>
              </a:lnSpc>
              <a:spcAft>
                <a:spcPct val="20000"/>
              </a:spcAft>
            </a:pPr>
            <a:r>
              <a:rPr sz="1100">
                <a:solidFill>
                  <a:srgbClr val="455F7C"/>
                </a:solidFill>
                <a:latin typeface="Open Sans"/>
              </a:rPr>
              <a:t>Share of U.S. adults who thought MMR vaccines cause autism, 2021-2023</a:t>
            </a:r>
          </a:p>
        </p:txBody>
      </p:sp>
    </p:spTree>
  </p:cSld>
  <p:clrMapOvr>
    <a:masterClrMapping/>
  </p:clrMapOvr>
  <p:transition/>
  <p:timing/>
</p:sld>
</file>

<file path=ppt/slides/slide3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 name="" title=""/>
        <p:cNvGrpSpPr/>
        <p:nvPr/>
      </p:nvGrpSpPr>
      <p:grpSpPr>
        <a:xfrm>
          <a:off x="0" y="0"/>
          <a:ext cx="0" cy="0"/>
        </a:xfrm>
      </p:grpSpPr>
      <p:sp>
        <p:nvSpPr>
          <p:cNvPr id="6" name="New shape" title=""/>
          <p:cNvSpPr/>
          <p:nvPr/>
        </p:nvSpPr>
        <p:spPr>
          <a:xfrm>
            <a:off x="500400" y="6228000"/>
            <a:ext cx="50400" cy="234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5" name="New shape" title=""/>
          <p:cNvSpPr/>
          <p:nvPr/>
        </p:nvSpPr>
        <p:spPr>
          <a:xfrm>
            <a:off x="10447200" y="6228000"/>
            <a:ext cx="1170000" cy="237600"/>
          </a:xfrm>
          <a:prstGeom prst="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4" name="New shape" title=""/>
          <p:cNvSpPr/>
          <p:nvPr/>
        </p:nvSpPr>
        <p:spPr>
          <a:xfrm>
            <a:off x="-7200" y="-7200"/>
            <a:ext cx="12211200" cy="54000"/>
          </a:xfrm>
          <a:prstGeom prst="rect">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New shape" title=""/>
          <p:cNvSpPr/>
          <p:nvPr/>
        </p:nvSpPr>
        <p:spPr>
          <a:xfrm>
            <a:off x="496800" y="424800"/>
            <a:ext cx="11196000" cy="78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b">
            <a:normAutofit/>
          </a:bodyPr>
          <a:lstStyle/>
          <a:p>
            <a:pPr algn="l">
              <a:lnSpc>
                <a:spcPct val="100000"/>
              </a:lnSpc>
              <a:spcAft>
                <a:spcPct val="20000"/>
              </a:spcAft>
            </a:pPr>
            <a:r>
              <a:rPr sz="2500">
                <a:solidFill>
                  <a:srgbClr val="0F2741"/>
                </a:solidFill>
                <a:latin typeface="Open Sans Light"/>
              </a:rPr>
              <a:t>Sources</a:t>
            </a:r>
          </a:p>
        </p:txBody>
      </p:sp>
      <p:sp>
        <p:nvSpPr>
          <p:cNvPr id="3" name="New shape" title=""/>
          <p:cNvSpPr/>
          <p:nvPr/>
        </p:nvSpPr>
        <p:spPr>
          <a:xfrm>
            <a:off x="-90000" y="6224400"/>
            <a:ext cx="662400"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r">
              <a:spcAft>
                <a:spcPct val="20000"/>
              </a:spcAft>
            </a:pPr>
            <a:r>
              <a:rPr sz="600" b="1">
                <a:solidFill>
                  <a:srgbClr val="455F7C"/>
                </a:solidFill>
                <a:latin typeface="Open Sans"/>
              </a:rPr>
              <a:t>36</a:t>
            </a:r>
          </a:p>
        </p:txBody>
      </p:sp>
      <p:sp>
        <p:nvSpPr>
          <p:cNvPr id="7" name="New shape" title=""/>
          <p:cNvSpPr/>
          <p:nvPr/>
        </p:nvSpPr>
        <p:spPr>
          <a:xfrm>
            <a:off x="496800" y="1882800"/>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Annenberg Public Policy Center</a:t>
            </a:r>
          </a:p>
        </p:txBody>
      </p:sp>
      <p:sp>
        <p:nvSpPr>
          <p:cNvPr id="8" name="New shape" title=""/>
          <p:cNvSpPr/>
          <p:nvPr/>
        </p:nvSpPr>
        <p:spPr>
          <a:xfrm>
            <a:off x="496800" y="2052743"/>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CDC</a:t>
            </a:r>
          </a:p>
        </p:txBody>
      </p:sp>
      <p:sp>
        <p:nvSpPr>
          <p:cNvPr id="9" name="New shape" title=""/>
          <p:cNvSpPr/>
          <p:nvPr/>
        </p:nvSpPr>
        <p:spPr>
          <a:xfrm>
            <a:off x="496800" y="2222686"/>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CDC (Center for Surveillance, Epidemiology and Laboratory Services)</a:t>
            </a:r>
          </a:p>
        </p:txBody>
      </p:sp>
      <p:sp>
        <p:nvSpPr>
          <p:cNvPr id="10" name="New shape" title=""/>
          <p:cNvSpPr/>
          <p:nvPr/>
        </p:nvSpPr>
        <p:spPr>
          <a:xfrm>
            <a:off x="496800" y="2392629"/>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CDC (National Center for Immunization and Respiratory Diseases)</a:t>
            </a:r>
          </a:p>
        </p:txBody>
      </p:sp>
      <p:sp>
        <p:nvSpPr>
          <p:cNvPr id="11" name="New shape" title=""/>
          <p:cNvSpPr/>
          <p:nvPr/>
        </p:nvSpPr>
        <p:spPr>
          <a:xfrm>
            <a:off x="496800" y="2562572"/>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CDC (National Immunization Survey)</a:t>
            </a:r>
          </a:p>
        </p:txBody>
      </p:sp>
      <p:sp>
        <p:nvSpPr>
          <p:cNvPr id="12" name="New shape" title=""/>
          <p:cNvSpPr/>
          <p:nvPr/>
        </p:nvSpPr>
        <p:spPr>
          <a:xfrm>
            <a:off x="496800" y="2732516"/>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CDC (National Notifiable Diseases Surveillance System (NNDSS))</a:t>
            </a:r>
          </a:p>
        </p:txBody>
      </p:sp>
      <p:sp>
        <p:nvSpPr>
          <p:cNvPr id="13" name="New shape" title=""/>
          <p:cNvSpPr/>
          <p:nvPr/>
        </p:nvSpPr>
        <p:spPr>
          <a:xfrm>
            <a:off x="496800" y="2902459"/>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CDC (NIS-Teen)</a:t>
            </a:r>
          </a:p>
        </p:txBody>
      </p:sp>
      <p:sp>
        <p:nvSpPr>
          <p:cNvPr id="14" name="New shape" title=""/>
          <p:cNvSpPr/>
          <p:nvPr/>
        </p:nvSpPr>
        <p:spPr>
          <a:xfrm>
            <a:off x="496800" y="3072402"/>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Expert(s) (Mathis AD, Raines K, Masters NB, et al.)</a:t>
            </a:r>
          </a:p>
        </p:txBody>
      </p:sp>
      <p:sp>
        <p:nvSpPr>
          <p:cNvPr id="15" name="New shape" title=""/>
          <p:cNvSpPr/>
          <p:nvPr/>
        </p:nvSpPr>
        <p:spPr>
          <a:xfrm>
            <a:off x="496800" y="3242345"/>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Expert(s) (Minta AA, Ferrari M, Antoni S, et al.)</a:t>
            </a:r>
          </a:p>
        </p:txBody>
      </p:sp>
      <p:sp>
        <p:nvSpPr>
          <p:cNvPr id="16" name="New shape" title=""/>
          <p:cNvSpPr/>
          <p:nvPr/>
        </p:nvSpPr>
        <p:spPr>
          <a:xfrm>
            <a:off x="496800" y="3412288"/>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Journal of the American Medical Association</a:t>
            </a:r>
          </a:p>
        </p:txBody>
      </p:sp>
      <p:sp>
        <p:nvSpPr>
          <p:cNvPr id="17" name="New shape" title=""/>
          <p:cNvSpPr/>
          <p:nvPr/>
        </p:nvSpPr>
        <p:spPr>
          <a:xfrm>
            <a:off x="496800" y="3582231"/>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KFF</a:t>
            </a:r>
          </a:p>
        </p:txBody>
      </p:sp>
      <p:sp>
        <p:nvSpPr>
          <p:cNvPr id="18" name="New shape" title=""/>
          <p:cNvSpPr/>
          <p:nvPr/>
        </p:nvSpPr>
        <p:spPr>
          <a:xfrm>
            <a:off x="496800" y="3752174"/>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KFF (KFF Health Misinformation Tracking Poll)</a:t>
            </a:r>
          </a:p>
        </p:txBody>
      </p:sp>
      <p:sp>
        <p:nvSpPr>
          <p:cNvPr id="19" name="New shape" title=""/>
          <p:cNvSpPr/>
          <p:nvPr/>
        </p:nvSpPr>
        <p:spPr>
          <a:xfrm>
            <a:off x="496800" y="3922117"/>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MMWR</a:t>
            </a:r>
          </a:p>
        </p:txBody>
      </p:sp>
      <p:sp>
        <p:nvSpPr>
          <p:cNvPr id="20" name="New shape" title=""/>
          <p:cNvSpPr/>
          <p:nvPr/>
        </p:nvSpPr>
        <p:spPr>
          <a:xfrm>
            <a:off x="496800" y="4092060"/>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Morning Consult</a:t>
            </a:r>
          </a:p>
        </p:txBody>
      </p:sp>
      <p:sp>
        <p:nvSpPr>
          <p:cNvPr id="21" name="New shape" title=""/>
          <p:cNvSpPr/>
          <p:nvPr/>
        </p:nvSpPr>
        <p:spPr>
          <a:xfrm>
            <a:off x="496800" y="4262003"/>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National Opinion Research Center</a:t>
            </a:r>
          </a:p>
        </p:txBody>
      </p:sp>
      <p:sp>
        <p:nvSpPr>
          <p:cNvPr id="22" name="New shape" title=""/>
          <p:cNvSpPr/>
          <p:nvPr/>
        </p:nvSpPr>
        <p:spPr>
          <a:xfrm>
            <a:off x="496800" y="4431947"/>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OWID</a:t>
            </a:r>
          </a:p>
        </p:txBody>
      </p:sp>
      <p:sp>
        <p:nvSpPr>
          <p:cNvPr id="23" name="New shape" title=""/>
          <p:cNvSpPr/>
          <p:nvPr/>
        </p:nvSpPr>
        <p:spPr>
          <a:xfrm>
            <a:off x="496800" y="4601890"/>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Pew Research Center</a:t>
            </a:r>
          </a:p>
        </p:txBody>
      </p:sp>
      <p:sp>
        <p:nvSpPr>
          <p:cNvPr id="24" name="New shape" title=""/>
          <p:cNvSpPr/>
          <p:nvPr/>
        </p:nvSpPr>
        <p:spPr>
          <a:xfrm>
            <a:off x="496800" y="4771833"/>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Pfizer</a:t>
            </a:r>
          </a:p>
        </p:txBody>
      </p:sp>
      <p:sp>
        <p:nvSpPr>
          <p:cNvPr id="25" name="New shape" title=""/>
          <p:cNvSpPr/>
          <p:nvPr/>
        </p:nvSpPr>
        <p:spPr>
          <a:xfrm>
            <a:off x="496800" y="4941776"/>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SSRS</a:t>
            </a:r>
          </a:p>
        </p:txBody>
      </p:sp>
      <p:sp>
        <p:nvSpPr>
          <p:cNvPr id="26" name="New shape" title=""/>
          <p:cNvSpPr/>
          <p:nvPr/>
        </p:nvSpPr>
        <p:spPr>
          <a:xfrm>
            <a:off x="496800" y="5111719"/>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US Census Bureau</a:t>
            </a:r>
          </a:p>
        </p:txBody>
      </p:sp>
      <p:sp>
        <p:nvSpPr>
          <p:cNvPr id="27" name="New shape" title=""/>
          <p:cNvSpPr/>
          <p:nvPr/>
        </p:nvSpPr>
        <p:spPr>
          <a:xfrm>
            <a:off x="496800" y="5281662"/>
            <a:ext cx="5598000" cy="24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tIns="46800" rIns="90000" bIns="46800" rtlCol="0" anchor="t"/>
          <a:lstStyle/>
          <a:p>
            <a:pPr algn="l">
              <a:spcAft>
                <a:spcPct val="20000"/>
              </a:spcAft>
            </a:pPr>
            <a:r>
              <a:rPr sz="900">
                <a:solidFill>
                  <a:srgbClr val="0F2741"/>
                </a:solidFill>
                <a:latin typeface="Open Sans"/>
              </a:rPr>
              <a:t>WHO</a:t>
            </a:r>
          </a:p>
        </p:txBody>
      </p:sp>
    </p:spTree>
  </p:cSld>
  <p:clrMapOvr>
    <a:masterClrMapping/>
  </p:clrMapOvr>
  <p:transition/>
  <p:timing/>
</p:sld>
</file>

<file path=ppt/tags/tag1.xml><?xml version="1.0" encoding="utf-8"?>
<p:tagLst xmlns:p="http://schemas.openxmlformats.org/presentationml/2006/main">
  <p:tag name="AS_NET" val="4.0.30319.42000"/>
  <p:tag name="AS_OS" val="Microsoft Windows NT 6.2.9200.0"/>
  <p:tag name="AS_RELEASE_DATE" val="2022.07.14"/>
  <p:tag name="AS_TITLE" val="Aspose.Slides for .NET 4.0 Client Profile"/>
  <p:tag name="AS_VERSION" val="22.7"/>
</p:tagLst>
</file>

<file path=ppt/theme/theme1.xml><?xml version="1.0" encoding="utf-8"?>
<a:theme xmlns:r="http://schemas.openxmlformats.org/officeDocument/2006/relationships"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vt="http://schemas.openxmlformats.org/officeDocument/2006/docPropsVTypes" xmlns="http://schemas.openxmlformats.org/officeDocument/2006/extended-properties">
  <Company/>
  <PresentationFormat>On-screen Show (4:3)</PresentationFormat>
  <Paragraphs>278</Paragraphs>
  <Slides>37</Slides>
  <Notes>0</Notes>
  <TotalTime>1</TotalTime>
  <HiddenSlides>0</HiddenSlides>
  <MMClips>0</MMClips>
  <ScaleCrop>0</ScaleCrop>
  <HeadingPairs>
    <vt:vector baseType="variant" size="6">
      <vt:variant>
        <vt:lpstr>Fonts used</vt:lpstr>
      </vt:variant>
      <vt:variant>
        <vt:i4>4</vt:i4>
      </vt:variant>
      <vt:variant>
        <vt:lpstr>Theme</vt:lpstr>
      </vt:variant>
      <vt:variant>
        <vt:i4>1</vt:i4>
      </vt:variant>
      <vt:variant>
        <vt:lpstr>Slide Titles</vt:lpstr>
      </vt:variant>
      <vt:variant>
        <vt:i4>37</vt:i4>
      </vt:variant>
    </vt:vector>
  </HeadingPairs>
  <TitlesOfParts>
    <vt:vector baseType="lpstr" size="42">
      <vt:lpstr>Arial</vt:lpstr>
      <vt:lpstr>Calibri</vt:lpstr>
      <vt:lpstr>Open Sans</vt:lpstr>
      <vt:lpstr>Open Sans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0</LinksUpToDate>
  <SharedDoc>0</SharedDoc>
  <HyperlinksChanged>0</HyperlinksChanged>
  <Application>Aspose.Slides for .NET</Application>
  <AppVersion>22.0700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cp:revision>1</cp:revision>
  <cp:lastPrinted>2025-04-28T14:03:44.895</cp:lastPrinted>
  <dcterms:created xsi:type="dcterms:W3CDTF">2025-04-28T12:03:44Z</dcterms:created>
  <dcterms:modified xsi:type="dcterms:W3CDTF">2025-04-28T12:03:48Z</dcterms:modified>
</cp:coreProperties>
</file>